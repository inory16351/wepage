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3" r:id="rId4"/>
    <p:sldId id="265" r:id="rId5"/>
    <p:sldId id="268" r:id="rId6"/>
    <p:sldId id="273" r:id="rId7"/>
    <p:sldId id="274" r:id="rId8"/>
    <p:sldId id="27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107"/>
    <a:srgbClr val="FAEBAC"/>
    <a:srgbClr val="ECFEA8"/>
    <a:srgbClr val="95820F"/>
    <a:srgbClr val="3D3D3D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19D7-BA50-C7FC-ADE6-12452D45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B8686D-6E08-83F8-6C96-5A85B7428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D6078-A22A-333F-0352-77100E2A9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ACCFB-611A-6529-CE1A-77D97B0FC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171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A99D-5055-6318-DE2C-63612127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B7C62-4E79-EA47-EABB-4315FD71D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2F63B6-BB26-1854-E19C-BDE8858D7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0211B-026E-DCCA-5ADF-D2C88DF73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82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2502-80D4-550D-34AC-30776706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2106E1-996E-D428-13B4-DAD5BAFFF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DBAD85-E4D5-E122-8E6B-7A0585D3C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898B8-0612-36BA-F691-82117E142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62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8F88-CA24-1E9B-853A-A0F61EAD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A882A-62B5-95FE-C4C6-0E2592A3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B32E35-763A-DE35-EA28-DAA49CC42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5D751-01AC-9ABB-F1DC-AF4C33C7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08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DB62-0A26-CBCA-4565-869A66B9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09C3E-C1C7-8E12-6BBA-64D3C0BD1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8C47E9-1B2A-E77B-49B6-8B1DA46DA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44114D-BC01-5F35-E713-AF63A5A3D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272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0F10-A60D-3F68-C2FD-131B7283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3717A2-1981-D113-02E7-3E7CC723D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A0CC3B-4BD5-CB33-6CB7-BC4300697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5F3C1-1672-8408-1138-D676FA484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29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450177"/>
            <a:ext cx="9144000" cy="16742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Last</a:t>
            </a:r>
            <a:r>
              <a:rPr lang="ko-KR" altLang="en-US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Sanctuary</a:t>
            </a: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유물 발굴 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057C3D-2379-EC30-2117-A96BDF4030B9}"/>
              </a:ext>
            </a:extLst>
          </p:cNvPr>
          <p:cNvSpPr txBox="1"/>
          <p:nvPr/>
        </p:nvSpPr>
        <p:spPr>
          <a:xfrm>
            <a:off x="9810750" y="5362575"/>
            <a:ext cx="1152525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버전명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 날짜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팀명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F1C50-C7A7-FF78-10F9-7589B4F19617}"/>
              </a:ext>
            </a:extLst>
          </p:cNvPr>
          <p:cNvSpPr txBox="1"/>
          <p:nvPr/>
        </p:nvSpPr>
        <p:spPr>
          <a:xfrm>
            <a:off x="10963275" y="5362575"/>
            <a:ext cx="1321089" cy="1347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Ver01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2026-09-01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파송송계란탁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이동현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65D4-7CF9-FEFC-BAAA-06A18613B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5EADA59-E70B-FCB5-0D55-EA8B34EA3E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E28846A-ED46-02BF-94DB-5157956EAC1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BF377AA-8484-B132-8FA6-2057DDB446F7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8AF4535-DFBF-48EF-56F8-4ABD16C32A23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D4B0B832-EEC7-30FF-A972-1390ED096370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0859C33-2FF5-0FCA-C2A3-1549F0E5B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495614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1273044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485668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2026-09-01 (14:00)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2026-09-01 (14:59)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 완료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차후 수정 및 추가 예정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04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목차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2E23E36-FDB8-F3A0-4083-68139FC50529}"/>
              </a:ext>
            </a:extLst>
          </p:cNvPr>
          <p:cNvGrpSpPr/>
          <p:nvPr/>
        </p:nvGrpSpPr>
        <p:grpSpPr>
          <a:xfrm>
            <a:off x="1040530" y="1533523"/>
            <a:ext cx="4099937" cy="2082380"/>
            <a:chOff x="1197548" y="1774032"/>
            <a:chExt cx="4099937" cy="2082380"/>
          </a:xfrm>
        </p:grpSpPr>
        <p:sp>
          <p:nvSpPr>
            <p:cNvPr id="11" name="Google Shape;106;p2">
              <a:extLst>
                <a:ext uri="{FF2B5EF4-FFF2-40B4-BE49-F238E27FC236}">
                  <a16:creationId xmlns:a16="http://schemas.microsoft.com/office/drawing/2014/main" id="{EA9A8902-0903-AEC0-4A96-F33ECFE0DF5D}"/>
                </a:ext>
              </a:extLst>
            </p:cNvPr>
            <p:cNvSpPr/>
            <p:nvPr/>
          </p:nvSpPr>
          <p:spPr>
            <a:xfrm>
              <a:off x="1197549" y="1774032"/>
              <a:ext cx="3005575" cy="548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altLang="en-US" sz="180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개요</a:t>
              </a:r>
              <a:endParaRPr lang="en-US" altLang="ko-KR" sz="180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" name="Google Shape;106;p2">
              <a:extLst>
                <a:ext uri="{FF2B5EF4-FFF2-40B4-BE49-F238E27FC236}">
                  <a16:creationId xmlns:a16="http://schemas.microsoft.com/office/drawing/2014/main" id="{9E3E23E0-F3B3-D1A8-641A-DA2E28D5915E}"/>
                </a:ext>
              </a:extLst>
            </p:cNvPr>
            <p:cNvSpPr/>
            <p:nvPr/>
          </p:nvSpPr>
          <p:spPr>
            <a:xfrm>
              <a:off x="1497582" y="3231358"/>
              <a:ext cx="2705542" cy="625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</a:pPr>
              <a:r>
                <a:rPr lang="en-US" sz="1400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r>
                <a:rPr lang="en-US" sz="1400" b="0" i="0" u="none" strike="noStrike" cap="none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-1. </a:t>
              </a: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발굴 시스템</a:t>
              </a:r>
              <a:endParaRPr lang="en-US" altLang="ko-KR" sz="1400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</a:pPr>
              <a:r>
                <a:rPr lang="en-US" altLang="ko-KR" sz="1400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2-2. </a:t>
              </a:r>
              <a:r>
                <a:rPr lang="ko-KR" altLang="en-US" sz="1400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몬스터 사냥</a:t>
              </a:r>
              <a:endParaRPr lang="en-US" altLang="ko-KR" sz="1400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" name="Google Shape;106;p2">
              <a:extLst>
                <a:ext uri="{FF2B5EF4-FFF2-40B4-BE49-F238E27FC236}">
                  <a16:creationId xmlns:a16="http://schemas.microsoft.com/office/drawing/2014/main" id="{ECBA978A-5200-6509-1D09-583153A2301C}"/>
                </a:ext>
              </a:extLst>
            </p:cNvPr>
            <p:cNvSpPr/>
            <p:nvPr/>
          </p:nvSpPr>
          <p:spPr>
            <a:xfrm>
              <a:off x="1197548" y="2682502"/>
              <a:ext cx="4099937" cy="987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+mj-lt"/>
                <a:buAutoNum type="arabicPeriod" startAt="2"/>
              </a:pPr>
              <a:r>
                <a:rPr lang="ko-KR" altLang="en-US" sz="180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유물 획득 방법</a:t>
              </a:r>
              <a:endParaRPr lang="en-US" altLang="ko-KR" sz="180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4" name="Google Shape;106;p2">
            <a:extLst>
              <a:ext uri="{FF2B5EF4-FFF2-40B4-BE49-F238E27FC236}">
                <a16:creationId xmlns:a16="http://schemas.microsoft.com/office/drawing/2014/main" id="{1C9B40A9-B053-222D-F5D3-BD29EC687011}"/>
              </a:ext>
            </a:extLst>
          </p:cNvPr>
          <p:cNvSpPr/>
          <p:nvPr/>
        </p:nvSpPr>
        <p:spPr>
          <a:xfrm>
            <a:off x="1040530" y="3569537"/>
            <a:ext cx="4099937" cy="6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en-US" altLang="ko-KR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 </a:t>
            </a:r>
            <a:r>
              <a:rPr lang="ko-KR" altLang="en-US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유물 비주얼</a:t>
            </a:r>
            <a:endParaRPr lang="en-US" altLang="ko-KR" sz="1800" b="1" dirty="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" name="Google Shape;106;p2">
            <a:extLst>
              <a:ext uri="{FF2B5EF4-FFF2-40B4-BE49-F238E27FC236}">
                <a16:creationId xmlns:a16="http://schemas.microsoft.com/office/drawing/2014/main" id="{FC744DAC-749E-A789-08B8-AC0112FCE5ED}"/>
              </a:ext>
            </a:extLst>
          </p:cNvPr>
          <p:cNvSpPr/>
          <p:nvPr/>
        </p:nvSpPr>
        <p:spPr>
          <a:xfrm>
            <a:off x="1340564" y="4140909"/>
            <a:ext cx="2705542" cy="80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3-1. </a:t>
            </a:r>
            <a:r>
              <a:rPr lang="ko-KR" altLang="en-US" sz="1400" b="0" i="0" u="none" strike="noStrike" cap="none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유물 스크립트 예시</a:t>
            </a:r>
            <a:endParaRPr lang="en-US" sz="1400" b="0" i="0" u="none" strike="noStrike" cap="none" dirty="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en-US" altLang="ko-KR" sz="1400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3-2. </a:t>
            </a:r>
            <a:r>
              <a:rPr lang="ko-KR" altLang="en-US" sz="1400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유물 등급별 비주얼</a:t>
            </a:r>
            <a:endParaRPr lang="en-US" altLang="ko-KR" sz="1400" b="0" i="0" u="none" strike="noStrike" cap="none" dirty="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F31F-CC77-4482-DACE-0034B0A8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C728B92-1B1A-45DE-5900-BB772BFCC7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C12B93D-CC9E-2458-D16D-83C1CD0322DA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78530D0F-7417-52FD-0299-4EC453CB07A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167B1F3-A6A9-D726-3114-79BB54BA06FE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8E21BFB7-6F29-338D-46FC-2A8BF18F11AD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개요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856F9D-46A7-60B3-D0D2-C03AE1DA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 의도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197E0-9FDF-E284-0F30-E4076D407A09}"/>
              </a:ext>
            </a:extLst>
          </p:cNvPr>
          <p:cNvSpPr txBox="1"/>
          <p:nvPr/>
        </p:nvSpPr>
        <p:spPr>
          <a:xfrm>
            <a:off x="886691" y="1676309"/>
            <a:ext cx="9097818" cy="1347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추가적인 캐릭터의 성장 요소 추가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개별적인 성장요소인 스킬과 반대되는 공통적인 성장 요소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점진적인 성장에 중점을 둔 강화 / 스킬 시스템과 다르게 운이 좋다면 게임 초반 </a:t>
            </a:r>
            <a:r>
              <a:rPr lang="ko-KR" altLang="ko-KR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높은 등급의 유물을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획득하여 캐릭터를 동 레벨 대비 강하게 운영 가능 -&gt; </a:t>
            </a:r>
            <a:r>
              <a:rPr lang="ko-KR" altLang="ko-KR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운적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쾌감 전달 가능</a:t>
            </a:r>
          </a:p>
        </p:txBody>
      </p:sp>
    </p:spTree>
    <p:extLst>
      <p:ext uri="{BB962C8B-B14F-4D97-AF65-F5344CB8AC3E}">
        <p14:creationId xmlns:p14="http://schemas.microsoft.com/office/powerpoint/2010/main" val="3999361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B386-29C2-BFDF-C8B6-179635B3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328DC1F-6AE9-60D0-0AA6-E92DD2F490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F1EA516-F263-2CE1-D929-3D496515F61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E37020B-EF88-ED44-6548-F3EE55CCE8C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5D74E48-46C7-B3F9-9400-A3040BB860B5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49A06119-F3FD-25E5-FCD8-22E9B0887F62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유물 획득 방법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BDA036-361B-835F-F498-C0BEE26F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발굴 시스템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747CF-D839-C778-ED1F-1C69C7FD0EDB}"/>
              </a:ext>
            </a:extLst>
          </p:cNvPr>
          <p:cNvSpPr txBox="1"/>
          <p:nvPr/>
        </p:nvSpPr>
        <p:spPr>
          <a:xfrm>
            <a:off x="886691" y="4352699"/>
            <a:ext cx="9097818" cy="167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맵 내에서 랜덤하게 배정되는 위치의 타일에 캐릭터의 시야가 닿음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타일에 느낌표 부호가 나타나고 해당 타일은 클릭 가능 판정을 얻음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해당 타일을 클릭할 경우 발굴 </a:t>
            </a:r>
            <a:r>
              <a:rPr lang="ko-KR" altLang="ko-KR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ui가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등장하고 수락 버튼을 누를 경우 가장 가까운 캐릭터가 발굴 행동 수행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시간이 경과 후 유물 / 에너지 / 체력 회복 등 다양한 보상 중 하나 랜덤 획득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확률에 따라 체력 감소나 침식 증가와 같은 부정적인 효과 또한 획득 가능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E33ED2B-7EBC-04CB-C48E-6E519A24E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03" y="2113312"/>
            <a:ext cx="1624022" cy="12020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47E1F52-1576-1CDC-B7FE-269727C64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255" y="2113312"/>
            <a:ext cx="1400608" cy="12074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5DBA2C8-2E86-D478-00A5-2F598A98C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56" b="93584" l="9956" r="89823">
                        <a14:foregroundMark x1="43805" y1="32965" x2="55973" y2="48894"/>
                        <a14:foregroundMark x1="36504" y1="26991" x2="46018" y2="40487"/>
                        <a14:foregroundMark x1="30973" y1="16150" x2="35398" y2="20575"/>
                        <a14:foregroundMark x1="32965" y1="17257" x2="44690" y2="35177"/>
                        <a14:foregroundMark x1="35177" y1="35619" x2="47124" y2="55531"/>
                        <a14:foregroundMark x1="51770" y1="64159" x2="57522" y2="74336"/>
                        <a14:foregroundMark x1="59735" y1="93584" x2="60177" y2="90487"/>
                        <a14:foregroundMark x1="56195" y1="72345" x2="64159" y2="86726"/>
                        <a14:foregroundMark x1="36504" y1="49115" x2="41372" y2="674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36800" y="2714329"/>
            <a:ext cx="607128" cy="60712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F37D62A-7FB0-1187-CE43-D78EA5AE38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593" y="2077826"/>
            <a:ext cx="2140960" cy="12730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3331470-8092-F43A-A12B-9609FE8301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283" y="2114721"/>
            <a:ext cx="1408609" cy="120318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46688ED-0294-5E81-A093-898A82A9F6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6623" y="2072414"/>
            <a:ext cx="2140961" cy="1278415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609140-9AA3-CC31-A795-B473E404CFF0}"/>
              </a:ext>
            </a:extLst>
          </p:cNvPr>
          <p:cNvSpPr/>
          <p:nvPr/>
        </p:nvSpPr>
        <p:spPr>
          <a:xfrm>
            <a:off x="671503" y="3112655"/>
            <a:ext cx="215188" cy="20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E3F6C7F-1CC4-51F5-3EA6-FF24E71967E6}"/>
              </a:ext>
            </a:extLst>
          </p:cNvPr>
          <p:cNvSpPr/>
          <p:nvPr/>
        </p:nvSpPr>
        <p:spPr>
          <a:xfrm>
            <a:off x="2677160" y="3112655"/>
            <a:ext cx="215188" cy="20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3D8598-4963-89B6-9B78-0FBAB86B38EC}"/>
              </a:ext>
            </a:extLst>
          </p:cNvPr>
          <p:cNvSpPr/>
          <p:nvPr/>
        </p:nvSpPr>
        <p:spPr>
          <a:xfrm>
            <a:off x="4489879" y="3112655"/>
            <a:ext cx="215188" cy="20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B0FA45-640C-9169-93B4-3D24FC4B4374}"/>
              </a:ext>
            </a:extLst>
          </p:cNvPr>
          <p:cNvSpPr/>
          <p:nvPr/>
        </p:nvSpPr>
        <p:spPr>
          <a:xfrm>
            <a:off x="6992893" y="3112655"/>
            <a:ext cx="215188" cy="20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7FD6BD-6019-9F89-1AF7-6E6DE2AF669A}"/>
              </a:ext>
            </a:extLst>
          </p:cNvPr>
          <p:cNvSpPr/>
          <p:nvPr/>
        </p:nvSpPr>
        <p:spPr>
          <a:xfrm>
            <a:off x="8788621" y="3112655"/>
            <a:ext cx="215188" cy="20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8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EE60-D66F-AE4B-392A-10DE63DB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4A255E8-C75A-6F3D-15D7-84E24F00F7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8B4E90B-7BC5-4978-761B-4F45DFEF01C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ED0E3408-A4A2-7AD3-0946-D29DDC98056F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2E2223A-D333-40CE-F670-951F3DE8C5F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C71B97CD-77C8-D1B8-71B6-0F69489DE708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유물 획득 방법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2E4C3B-9549-6D35-C030-A8E42FEF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몬스터 사냥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0884B-BF8A-1E10-F015-AA1030CD1717}"/>
              </a:ext>
            </a:extLst>
          </p:cNvPr>
          <p:cNvSpPr txBox="1"/>
          <p:nvPr/>
        </p:nvSpPr>
        <p:spPr>
          <a:xfrm>
            <a:off x="886691" y="4361412"/>
            <a:ext cx="9097818" cy="102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몬스터 사냥 시 낮은 확률로 유물 획득 가능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상대적으로 낮은 등급의 유물이 등장할 가능성이 높음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모든 보스 몬스터(웨이브 / 중립 모두 포함)는 자신의 고유한 </a:t>
            </a:r>
            <a:r>
              <a:rPr lang="ko-KR" altLang="ko-KR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유물을 지니고 있음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75926FA-92C7-BEC3-6E1D-7B68971F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92" b="21770"/>
          <a:stretch>
            <a:fillRect/>
          </a:stretch>
        </p:blipFill>
        <p:spPr>
          <a:xfrm>
            <a:off x="701894" y="1989695"/>
            <a:ext cx="3057952" cy="155593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97E9A40-D834-6ED3-6A0B-C15117141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728" y="1989696"/>
            <a:ext cx="5433012" cy="155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96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29DB-8810-F684-34DF-A81EF7A8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1EE600-294D-C88C-20C6-E196732809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61126E-847C-0FAF-B269-E93B11886A63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3D3555FB-B4EA-9ED1-F8A8-2651062A487B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0E45DE-FFAC-7990-F124-4603F6C504F0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FD8DEBFF-DE54-FFB3-13EF-9A16F3992EE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유물 비주얼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5EC66B-0899-77D0-3B96-8616B8FE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유물 스크립트 예시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7A52FC-B4C0-CFDD-AF26-7D49688A7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74" y="1702638"/>
            <a:ext cx="5065426" cy="318784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FE6EA-BD5D-8DE7-ECCA-9E9918562C01}"/>
              </a:ext>
            </a:extLst>
          </p:cNvPr>
          <p:cNvSpPr/>
          <p:nvPr/>
        </p:nvSpPr>
        <p:spPr>
          <a:xfrm>
            <a:off x="1030574" y="1702638"/>
            <a:ext cx="2155971" cy="318784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3109A3-C26B-892F-02BB-396E30C20A62}"/>
              </a:ext>
            </a:extLst>
          </p:cNvPr>
          <p:cNvSpPr/>
          <p:nvPr/>
        </p:nvSpPr>
        <p:spPr>
          <a:xfrm>
            <a:off x="3186545" y="1702639"/>
            <a:ext cx="2909455" cy="338598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23903B-B3E8-9EB8-0030-9AC678AEDF8A}"/>
              </a:ext>
            </a:extLst>
          </p:cNvPr>
          <p:cNvSpPr/>
          <p:nvPr/>
        </p:nvSpPr>
        <p:spPr>
          <a:xfrm>
            <a:off x="3186545" y="4551882"/>
            <a:ext cx="2909455" cy="338598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C95249-1AD8-EA07-3045-B50829ECD9E0}"/>
              </a:ext>
            </a:extLst>
          </p:cNvPr>
          <p:cNvSpPr/>
          <p:nvPr/>
        </p:nvSpPr>
        <p:spPr>
          <a:xfrm>
            <a:off x="5975927" y="2041237"/>
            <a:ext cx="120073" cy="284924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0BBF16-3465-A62D-FB32-63283DE48E61}"/>
              </a:ext>
            </a:extLst>
          </p:cNvPr>
          <p:cNvSpPr/>
          <p:nvPr/>
        </p:nvSpPr>
        <p:spPr>
          <a:xfrm>
            <a:off x="3186545" y="2041237"/>
            <a:ext cx="2789382" cy="2510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E64FA-DDAC-51BA-10D4-21308D916E02}"/>
              </a:ext>
            </a:extLst>
          </p:cNvPr>
          <p:cNvSpPr txBox="1"/>
          <p:nvPr/>
        </p:nvSpPr>
        <p:spPr>
          <a:xfrm>
            <a:off x="886691" y="5155361"/>
            <a:ext cx="10267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유물의 설명 스크립트와 이름은 내부적 컨셉을 반영할 수 있도록, 몸의 면역반응을 보여주는 이름과 문어체 스크립트를 채용</a:t>
            </a:r>
          </a:p>
        </p:txBody>
      </p:sp>
    </p:spTree>
    <p:extLst>
      <p:ext uri="{BB962C8B-B14F-4D97-AF65-F5344CB8AC3E}">
        <p14:creationId xmlns:p14="http://schemas.microsoft.com/office/powerpoint/2010/main" val="154388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C184-C561-78C3-C400-41E19C43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5033371-B0E6-DDFF-C6D6-B89F134D4C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A330EC-C008-A6A4-329B-DCD38C84E58A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E5C4D973-8688-031E-8CD1-B6F43AB2F9A0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A015C5C-AF8E-C069-0EBE-AB63D7B8A18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996D674D-9A11-31E3-2CF8-07BDF8BD04E3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유물 비주얼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9D1BEE-41C9-F64B-F2C1-AF909BAA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노말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유물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494B1-AA05-43C7-7A90-EEDC9D0E2161}"/>
              </a:ext>
            </a:extLst>
          </p:cNvPr>
          <p:cNvSpPr txBox="1"/>
          <p:nvPr/>
        </p:nvSpPr>
        <p:spPr>
          <a:xfrm>
            <a:off x="886691" y="3701299"/>
            <a:ext cx="9097818" cy="700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노말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레어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총 세 가지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유물의 등급으로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폰트 </a:t>
            </a:r>
            <a:r>
              <a:rPr lang="ko-KR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색깔로 성능을 표현하고 구별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4E76ABE-2DB9-63A0-3578-4FCECDE76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32" y="2343794"/>
            <a:ext cx="3071822" cy="101479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EB33CA8-AFD9-1573-DFB4-BCAC8E8BB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807" y="2343794"/>
            <a:ext cx="3044395" cy="101479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B2A6BB4-CB25-9F9B-3051-BCDAD67E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03" y="2343794"/>
            <a:ext cx="2832976" cy="10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87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289</Words>
  <Application>Microsoft Office PowerPoint</Application>
  <PresentationFormat>와이드스크린</PresentationFormat>
  <Paragraphs>66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기획 의도</vt:lpstr>
      <vt:lpstr>발굴 시스템</vt:lpstr>
      <vt:lpstr>몬스터 사냥</vt:lpstr>
      <vt:lpstr>유물 스크립트 예시</vt:lpstr>
      <vt:lpstr>노말 유물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242</cp:revision>
  <dcterms:created xsi:type="dcterms:W3CDTF">2026-06-16T06:11:28Z</dcterms:created>
  <dcterms:modified xsi:type="dcterms:W3CDTF">2026-09-01T05:59:34Z</dcterms:modified>
</cp:coreProperties>
</file>