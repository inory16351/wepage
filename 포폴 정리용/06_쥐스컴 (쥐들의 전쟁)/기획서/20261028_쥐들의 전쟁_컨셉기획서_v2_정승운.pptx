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b6dcf50f-b40f-97e6-a873-514c20b507b3}">
          <p14:sldIdLst>
            <p14:sldId id="256"/>
          </p14:sldIdLst>
        </p14:section>
        <p14:section name="개요" id="{14b9eabf-7c35-c88b-c43d-296f8b97584f}">
          <p14:sldIdLst>
            <p14:sldId id="257"/>
          </p14:sldIdLst>
        </p14:section>
        <p14:section name="기획 의도" id="{66154680-4599-0d20-5148-3b7dc1fed034}">
          <p14:sldIdLst>
            <p14:sldId id="258"/>
            <p14:sldId id="259"/>
          </p14:sldIdLst>
        </p14:section>
        <p14:section name="원페이지" id="{f69456bf-56e6-2aec-0406-d476256fb7c7}">
          <p14:sldIdLst>
            <p14:sldId id="260"/>
            <p14:sldId id="261"/>
            <p14:sldId id="262"/>
          </p14:sldIdLst>
        </p14:section>
        <p14:section name="비쥬얼 가이드" id="{13458edd-5a5a-8a2f-d9b8-5354129763a8}">
          <p14:sldIdLst>
            <p14:sldId id="263"/>
            <p14:sldId id="264"/>
          </p14:sldIdLst>
        </p14:section>
        <p14:section name="전투 시스템" id="{db98d043-167d-e744-c6eb-fd0ba437bfc3}">
          <p14:sldIdLst>
            <p14:sldId id="265"/>
            <p14:sldId id="266"/>
            <p14:sldId id="267"/>
          </p14:sldIdLst>
        </p14:section>
        <p14:section name="최전방 교대" id="{38bbae1b-407f-8129-ff2e-a4bb4f931b0c}">
          <p14:sldIdLst>
            <p14:sldId id="268"/>
            <p14:sldId id="269"/>
          </p14:sldIdLst>
        </p14:section>
        <p14:section name="아웃게임" id="{6c0511be-2295-40e6-740d-1845109e3d45}">
          <p14:sldIdLst>
            <p14:sldId id="270"/>
            <p14:sldId id="271"/>
            <p14:sldId id="272"/>
          </p14:sldIdLst>
        </p14:section>
        <p14:section name="시스템 연결" id="{c9464572-b0d1-4029-3d3e-6f81df0be664}">
          <p14:sldIdLst>
            <p14:sldId id="273"/>
          </p14:sldIdLst>
        </p14:section>
        <p14:section name="정리" id="{5b5cffcb-0cde-2b67-fba5-abc6c6338d02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EE7D4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EEE7D4"/>
                </a:solidFill>
                <a:latin typeface="+mn-lt"/>
              </a:rPr>
              <a:t>부위별 피격 확률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일반 명중</c:v>
                </c:pt>
              </c:strCache>
            </c:strRef>
          </c:tx>
          <c:spPr>
            <a:solidFill>
              <a:srgbClr val="6E6D3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EEE7D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머리</c:v>
                  </c:pt>
                  <c:pt idx="1">
                    <c:v>몸통</c:v>
                  </c:pt>
                  <c:pt idx="2">
                    <c:v>팔</c:v>
                  </c:pt>
                  <c:pt idx="3">
                    <c:v>다리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50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치명타</c:v>
                </c:pt>
              </c:strCache>
            </c:strRef>
          </c:tx>
          <c:spPr>
            <a:solidFill>
              <a:srgbClr val="C0442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EEE7D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머리</c:v>
                  </c:pt>
                  <c:pt idx="1">
                    <c:v>몸통</c:v>
                  </c:pt>
                  <c:pt idx="2">
                    <c:v>팔</c:v>
                  </c:pt>
                  <c:pt idx="3">
                    <c:v>다리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</c:v>
                </c:pt>
                <c:pt idx="1">
                  <c:v>40</c:v>
                </c:pt>
                <c:pt idx="2">
                  <c:v>15</c:v>
                </c:pt>
                <c:pt idx="3">
                  <c:v>15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EEE7D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EEE7D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EEE7D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쥐들의 전쟁 · 컨셉 기획서 v2.0 · 정승운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Project/RatWar/docs/concept_deck/jpg/key_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480560" cy="5143500"/>
          </a:xfrm>
          <a:prstGeom prst="rect">
            <a:avLst/>
          </a:prstGeom>
          <a:solidFill>
            <a:schemeClr val="tx1">
              <a:alpha val="75000"/>
            </a:scheme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컨셉 기획서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쥐들의 전쟁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턴제 분대 전술 · 로스터 관리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작성자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3840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정승운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1148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작성일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41148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2026.10.28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3891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버전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43891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v2.0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CONTENTS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목차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63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기획 의도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922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기획 의도 · 레퍼런스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937760" y="12801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463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원페이지 기획서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17922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개요 · 세계관 · 핵심 루프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23774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25603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비쥬얼 가이드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28895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원근감 · 시야 · 부위파괴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37744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937760" y="23774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25603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전투 시스템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28895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명중률 · 치명타 · 부위파괴 · 스트레스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31520" y="347472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6576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최전방 교대 (PTSD)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39867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전선 피로 · 교대 운용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4747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937760" y="347472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5760720" y="36576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아웃게임 시스템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760720" y="39867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성장 · 병종 · 모집 · 특성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01  기획 의도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기획 의도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동물 의인화 만화 이미지로 전쟁의 참혹함과 개인의 공포, 소중함을 표현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감성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8892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플랫한 그림체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00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원작의 플랫한 그림체 유지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3D 레이어로 원근감 보강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귀여운 쥐와 참혹한 전장의 대비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64592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9202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204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주제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78892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참혹함 · 공포 · 소중함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200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리깅 기반 부위파괴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스트레스와 정신 붕괴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사연 있는 병사의 영구 사망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64592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9202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093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재미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78892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확률 판정의 긴장감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200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명중률 항목별 공개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측면 치명타 시네마틱 연출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한 발로 갈리는 카타르시스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01  기획 의도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레퍼런스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9377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97180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레퍼런스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참고 요소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적용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엑스컴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엄폐 · 명중률 · 측면 · 영구 사망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전투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다키스트 던전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스트레스 · 정신 붕괴 · 로스터 교대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관리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쥐 (Maus)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동물 의인화 · 만화 이미지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017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차별점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고어도 플랫한 톤으로 표현, 불쾌감보다 비극성 강조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쥐 습성을 스킬로 표현 (땅굴, 철조망 갉기, 수염, 치즈)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병종은 선택이 아닌 스킬 투자 결과로 결정</a:t>
            </a:r>
            <a:endParaRPr lang="en-US" sz="1100" dirty="0"/>
          </a:p>
        </p:txBody>
      </p:sp>
      <p:pic>
        <p:nvPicPr>
          <p:cNvPr id="7" name="Image 0" descr="C:/Project/RatWar/docs/concept_deck/jpg/shot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188720"/>
            <a:ext cx="3017520" cy="169735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0" y="2926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타이틀 화면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669280" y="3291840"/>
            <a:ext cx="301752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852160" y="34290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포지셔닝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852160" y="3758184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엑스컴의 전술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+ 다키스트 던전의 정신 관리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2차 세계대전 우화로 재구성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02  원페이지 기획서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원페이지 기획서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86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장르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턴제 분대 전술 + 로스터 관리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플랫폼 / 엔진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PC (Windows) / Unity 6 URP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타깃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엑스컴 · 다키스트 던전 유저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세계관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2차 세계대전 모티브, 고양이 총통 vs 쥐 연합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캠페인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4막 × (임무 3 + 막 보스) = 16임무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최대 12마리 보유, 6마리 출전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영구 사망, 복귀 불가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188720"/>
            <a:ext cx="2834640" cy="3474720"/>
          </a:xfrm>
          <a:prstGeom prst="roundRect">
            <a:avLst>
              <a:gd name="adj" fmla="val 2581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080760" y="1371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핵심 포인트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80760" y="187452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08076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565392" y="18745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플랫 그림체 + 입체 전장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80760" y="2532888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080760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565392" y="2532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리깅 기반 부위파괴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80760" y="319125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080760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565392" y="31912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사연 있는 병사 개체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80760" y="3849624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08076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565392" y="38496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쥐 습성 기반 스킬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02  원페이지 기획서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세계관 / 캠페인 구성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막마다 새 병과 · 지형 · 목표를 하나씩만 추가, 단계적으로 학습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920240" cy="301752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8368" y="1810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1막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1031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점령된 마을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6974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지형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9169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마을 · 참호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3192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목표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538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전멸 · 표적 · 진지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394106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추가 적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장교 · 저격 · 화염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04872" y="3017520"/>
            <a:ext cx="128016" cy="228600"/>
          </a:xfrm>
          <a:prstGeom prst="rtTriangle">
            <a:avLst/>
          </a:prstGeom>
          <a:solidFill>
            <a:schemeClr val="accent3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0" y="1645920"/>
            <a:ext cx="1920240" cy="301752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761488" y="1810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2막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761488" y="21031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강 건너 공장지대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761488" y="26974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지형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761488" y="29169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물 · 다리 · 건물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761488" y="33192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목표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2761488" y="3538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파괴 · 구출 · 방어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761488" y="394106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추가 적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761488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방패병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07992" y="3017520"/>
            <a:ext cx="128016" cy="228600"/>
          </a:xfrm>
          <a:prstGeom prst="rtTriangle">
            <a:avLst/>
          </a:prstGeom>
          <a:solidFill>
            <a:schemeClr val="accent3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1645920"/>
            <a:ext cx="1920240" cy="301752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864608" y="1810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3막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64608" y="21031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숲과 성당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864608" y="26974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지형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864608" y="29169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숲 · 다층 언덕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864608" y="33192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목표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864608" y="3538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탈출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64608" y="394106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추가 적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64608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군견 고양이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11112" y="3017520"/>
            <a:ext cx="128016" cy="228600"/>
          </a:xfrm>
          <a:prstGeom prst="rtTriangle">
            <a:avLst/>
          </a:prstGeom>
          <a:solidFill>
            <a:schemeClr val="accent3"/>
          </a:solidFill>
          <a:ln/>
        </p:spPr>
      </p:sp>
      <p:sp>
        <p:nvSpPr>
          <p:cNvPr id="35" name="Shape 33"/>
          <p:cNvSpPr/>
          <p:nvPr/>
        </p:nvSpPr>
        <p:spPr>
          <a:xfrm>
            <a:off x="6766560" y="164592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4A2620"/>
          </a:solidFill>
          <a:ln/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967728" y="1810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4막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967728" y="21031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총통의 벙커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967728" y="26974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지형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967728" y="29169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실내 · 문 · 복도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967728" y="33192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목표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967728" y="3538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최종 보스 3단계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967728" y="394106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추가 적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967728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친위대 · 총통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02  원페이지 기획서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핵심 루프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261872" cy="1645920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32104" y="1417320"/>
            <a:ext cx="512064" cy="51206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32104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모집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231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신병 · 특성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56232" y="1234440"/>
            <a:ext cx="1261872" cy="1645920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31136" y="141732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23113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856232" y="205740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육성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856232" y="24231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스킬 -&gt; 병종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55264" y="1234440"/>
            <a:ext cx="1261872" cy="1645920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30168" y="1417320"/>
            <a:ext cx="512064" cy="51206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30168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255264" y="205740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출전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55264" y="24231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12마리 중 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54296" y="1234440"/>
            <a:ext cx="1261872" cy="1645920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41732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654296" y="205740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전투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654296" y="24231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엄폐 · 확률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53328" y="1234440"/>
            <a:ext cx="1261872" cy="1645920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28232" y="1417320"/>
            <a:ext cx="512064" cy="51206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28232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053328" y="205740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정산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053328" y="24231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성장 · 사망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52360" y="1234440"/>
            <a:ext cx="1261872" cy="1645920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27264" y="1417320"/>
            <a:ext cx="512064" cy="51206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827264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205740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교대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24231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지친 병사 후방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88136" y="3108960"/>
            <a:ext cx="6995160" cy="0"/>
          </a:xfrm>
          <a:prstGeom prst="line">
            <a:avLst/>
          </a:prstGeom>
          <a:noFill/>
          <a:ln w="25400">
            <a:solidFill>
              <a:srgbClr val="6E6D3C"/>
            </a:solidFill>
            <a:prstDash val="dash"/>
            <a:headEnd type="triangle"/>
          </a:ln>
        </p:spPr>
      </p:sp>
      <p:sp>
        <p:nvSpPr>
          <p:cNvPr id="35" name="Text 33"/>
          <p:cNvSpPr txBox="1"/>
          <p:nvPr/>
        </p:nvSpPr>
        <p:spPr>
          <a:xfrm>
            <a:off x="2286000" y="3200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교대로 빈 자리는 신병으로 보충 후 재육성</a:t>
            </a:r>
            <a:endParaRPr lang="en-US" sz="1000" dirty="0"/>
          </a:p>
        </p:txBody>
      </p:sp>
      <p:pic>
        <p:nvPicPr>
          <p:cNvPr id="36" name="Image 0" descr="C:/Project/RatWar/docs/concept_deck/jpg/shot_op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11880"/>
            <a:ext cx="1828800" cy="1028700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2560320" y="370332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작전 화면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2560320" y="4032504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출전 6마리 편성, 대기 병사는 다음 판 이후 스트레스 -35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03  비쥬얼 가이드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비쥬얼 가이드 - 원근감 / 시야</a:t>
            </a:r>
            <a:endParaRPr lang="en-US" sz="2400" dirty="0"/>
          </a:p>
        </p:txBody>
      </p:sp>
      <p:pic>
        <p:nvPicPr>
          <p:cNvPr id="4" name="Image 0" descr="C:/Project/RatWar/docs/concept_deck/jpg/shot_bat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28803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41148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인게임 화면 (1-2 언덕 위의 박격포)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852160" y="11887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85216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1978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3D 레이어 배경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15270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배경층 6겹 + 양옆 날개층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원근 카메라 FOV 40, 줌 시 숙임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52160" y="221284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852160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2219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리깅 + 통이미지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255117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기본 액션은 부위 리깅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엄폐 · 사망 모션은 통이미지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323697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852160" y="3236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3246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안개 = 시야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35753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미확인 칸 명도 · 채도 하락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흐르는 연무 2겹으로 표현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03  비쥬얼 가이드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비쥬얼 가이드 - 부위파괴</a:t>
            </a:r>
            <a:endParaRPr lang="en-US" sz="2400" dirty="0"/>
          </a:p>
        </p:txBody>
      </p:sp>
      <p:pic>
        <p:nvPicPr>
          <p:cNvPr id="4" name="Image 0" descr="C:/Project/RatWar/docs/concept_deck/jpg/shot_go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28803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41148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고양이 소총병 절단 사망 직후, 웅덩이 확산 중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852160" y="118872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85216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1978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리깅 부위 분리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15270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머리 · 팔 · 다리 분리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날아간 부위는 바닥에 잔류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52160" y="22128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852160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2219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플랫한 톤의 출혈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255117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방울 -&gt; 바닥 자국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-&gt; 천천히 번지는 웅덩이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323697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852160" y="3236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3246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사망 방식별 연출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35753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참수 · 절단 · 폭발 3종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목격한 아군 스트레스 +8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04  전투 시스템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명중률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확률 기반 공격 판정, 보정 항목은 전부 화면에 공개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8872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6002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조준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1600200"/>
            <a:ext cx="210312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737360" y="16002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+ 무기 거리 보정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31920" y="1600200"/>
            <a:ext cx="1280160" cy="475488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931920" y="160020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- 엄폐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0" y="1600200"/>
            <a:ext cx="1828800" cy="475488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03520" y="16002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± 상황 보정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16002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= 명중 % (1~99)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42976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64592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보정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낮은 엄폐 / 높은 엄폐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-20 / -40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엎드리기 (엄폐 중)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-25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+20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정조준 / 표적 지정 / 칼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+20 / +15 / +30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제압 / 팔 부상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-30 / -30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경계 사격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-10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029200" y="2286000"/>
            <a:ext cx="365760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257800" y="24505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무기 거리 보정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257800" y="277977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산탄총: 2칸 이내 +30, 8칸부터 급감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저격소총: 3칸 이내 -25, 7칸부터 +5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257800" y="35478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특성 보정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257800" y="38770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지휘관 곁 +5 · 외톨이 +10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형제 복수심 +15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04  전투 시스템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치명타 / 부위파괴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2976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42976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38328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부위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결과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머리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즉사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팔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명중 -30, 재장전 35% 실패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다리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이동 범위 절반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029200" y="1188720"/>
            <a:ext cx="3657600" cy="1060704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166360" y="1188720"/>
            <a:ext cx="10515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+40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6263640" y="13167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측면 치명타 보정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263640" y="1645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엄폐 없는 대상 +15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치명타 피해 +2 · 시네마틱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029200" y="2377440"/>
            <a:ext cx="3657600" cy="1060704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166360" y="2377440"/>
            <a:ext cx="10515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70%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263640" y="25054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팔다리 절단 확률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절단 시 쓰러짐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의수 · 의족 전 출전 불가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0" y="3566160"/>
            <a:ext cx="3657600" cy="1060704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166360" y="3566160"/>
            <a:ext cx="10515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7칸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36941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확인사살 거리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263640" y="4023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쓰러진 쥐를 고양이가 추격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구출 여부 판단 필요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04  전투 시스템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스트레스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572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1463040"/>
                <a:gridCol w="7315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증가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감소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피격 / 치명 피격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+8 / +12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처치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-6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쓰러짐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+20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승리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-12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7칸 이내 동료 사망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+22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치즈 배급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-25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형제 사망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+45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찍찍 함성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-10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고어 목격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+8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후방 휴식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-35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단계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3611880"/>
            <a:ext cx="1600200" cy="36576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611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안정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274320" y="39959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bg2"/>
                </a:solidFill>
              </a:rPr>
              <a:t>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057400" y="3611880"/>
            <a:ext cx="1143000" cy="3657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057400" y="3611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긴장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39959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bg2"/>
                </a:solidFill>
              </a:rPr>
              <a:t>35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200400" y="3611880"/>
            <a:ext cx="1143000" cy="365760"/>
          </a:xfrm>
          <a:prstGeom prst="rect">
            <a:avLst/>
          </a:prstGeom>
          <a:solidFill>
            <a:schemeClr val="accent6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00400" y="3611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불안 (명중 -10)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3017520" y="39959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bg2"/>
                </a:solidFill>
              </a:rPr>
              <a:t>60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343400" y="3611880"/>
            <a:ext cx="685800" cy="3657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43400" y="36118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붕괴 직전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160520" y="39959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bg2"/>
                </a:solidFill>
              </a:rPr>
              <a:t>85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39959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bg2"/>
                </a:solidFill>
              </a:rPr>
              <a:t>100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2245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</a:rPr>
              <a:t>특성별 배율: 용감함 ×0.7 · 겁쟁이 ×1.3 · 비위 약함 고어 ×2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</a:rPr>
              <a:t>강철 의지: 붕괴 기준 120</a:t>
            </a:r>
            <a:endParaRPr lang="en-US" sz="950" dirty="0"/>
          </a:p>
        </p:txBody>
      </p:sp>
      <p:pic>
        <p:nvPicPr>
          <p:cNvPr id="20" name="Image 0" descr="C:/Project/RatWar/docs/concept_deck/jpg/stres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188720"/>
            <a:ext cx="3383280" cy="190195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303520" y="3246120"/>
            <a:ext cx="338328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5486400" y="33649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스트레스 100 도달 시 붕괴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5486400" y="3694176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공황 50%: 행동 불가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광란 25%: 무차별 사격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도주 25%: 전장 이탈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붕괴 후 70으로 하락, 주변 아군 +6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05  최전방 교대 (PTSD)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최전방 교대 (PTSD) - 전선 피로</a:t>
            </a:r>
            <a:endParaRPr lang="en-US" sz="2400" dirty="0"/>
          </a:p>
        </p:txBody>
      </p:sp>
      <p:pic>
        <p:nvPicPr>
          <p:cNvPr id="4" name="Image 0" descr="C:/Project/RatWar/docs/concept_deck/jpg/rot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931920" cy="22128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566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기획 의도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8953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현실 전쟁의 최전방 병력 교대를 관리 요소로 채용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에이스 반복 출전 방지, 분대 전체에 애착 형성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188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출전 +1  ·  대기 1임무 -2  ·  붕괴 1회 +1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572768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/>
        </p:spPr>
      </p:sp>
      <p:sp>
        <p:nvSpPr>
          <p:cNvPr id="9" name="Shape 6"/>
          <p:cNvSpPr/>
          <p:nvPr/>
        </p:nvSpPr>
        <p:spPr>
          <a:xfrm>
            <a:off x="4773168" y="1655064"/>
            <a:ext cx="402336" cy="40233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773168" y="1655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0~1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5321808" y="16184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정상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321808" y="18745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효과 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63440" y="2212848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/>
        </p:spPr>
      </p:sp>
      <p:sp>
        <p:nvSpPr>
          <p:cNvPr id="14" name="Shape 11"/>
          <p:cNvSpPr/>
          <p:nvPr/>
        </p:nvSpPr>
        <p:spPr>
          <a:xfrm>
            <a:off x="4773168" y="229514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773168" y="2295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5321808" y="22585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지침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321808" y="2514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붕괴 기준 -10 (100 -&gt; 90)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63440" y="2852928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/>
        </p:spPr>
      </p:sp>
      <p:sp>
        <p:nvSpPr>
          <p:cNvPr id="19" name="Shape 16"/>
          <p:cNvSpPr/>
          <p:nvPr/>
        </p:nvSpPr>
        <p:spPr>
          <a:xfrm>
            <a:off x="4773168" y="2935224"/>
            <a:ext cx="402336" cy="402336"/>
          </a:xfrm>
          <a:prstGeom prst="ellipse">
            <a:avLst/>
          </a:prstGeom>
          <a:solidFill>
            <a:srgbClr val="D982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773168" y="2935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3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321808" y="28986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탄환 충격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321808" y="31546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붕괴 기준 -20, 출전 시 스트레스 +10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663440" y="3493008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/>
        </p:spPr>
      </p:sp>
      <p:sp>
        <p:nvSpPr>
          <p:cNvPr id="24" name="Shape 21"/>
          <p:cNvSpPr/>
          <p:nvPr/>
        </p:nvSpPr>
        <p:spPr>
          <a:xfrm>
            <a:off x="4773168" y="3575304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773168" y="3575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4~5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5321808" y="35387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전쟁 신경증 (PTSD)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321808" y="37947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붕괴 기준 -30, 매 턴 공황 5%, 출전 경고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663440" y="420624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35302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800600" y="424281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회복: 대기 1임무당 스트레스 -35, 피로 -2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PTSD 해제: 2임무 연속 대기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05  최전방 교대 (PTSD)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교대 운용 예시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임무 N 분대 현황 (숫자 = 전선 피로)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658368" cy="86868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1691640"/>
            <a:ext cx="402336" cy="402336"/>
          </a:xfrm>
          <a:prstGeom prst="ellipse">
            <a:avLst/>
          </a:prstGeom>
          <a:solidFill>
            <a:srgbClr val="8CC08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85216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671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출전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207008" y="1600200"/>
            <a:ext cx="658368" cy="86868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10" name="Shape 8"/>
          <p:cNvSpPr/>
          <p:nvPr/>
        </p:nvSpPr>
        <p:spPr>
          <a:xfrm>
            <a:off x="1335024" y="1691640"/>
            <a:ext cx="402336" cy="402336"/>
          </a:xfrm>
          <a:prstGeom prst="ellipse">
            <a:avLst/>
          </a:prstGeom>
          <a:solidFill>
            <a:srgbClr val="8CC0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35024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1671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출전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956816" y="1600200"/>
            <a:ext cx="658368" cy="86868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14" name="Shape 12"/>
          <p:cNvSpPr/>
          <p:nvPr/>
        </p:nvSpPr>
        <p:spPr>
          <a:xfrm>
            <a:off x="2084832" y="1691640"/>
            <a:ext cx="402336" cy="402336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84832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956816" y="21671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출전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06624" y="1600200"/>
            <a:ext cx="658368" cy="86868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18" name="Shape 16"/>
          <p:cNvSpPr/>
          <p:nvPr/>
        </p:nvSpPr>
        <p:spPr>
          <a:xfrm>
            <a:off x="2834640" y="1691640"/>
            <a:ext cx="402336" cy="402336"/>
          </a:xfrm>
          <a:prstGeom prst="ellipse">
            <a:avLst/>
          </a:prstGeom>
          <a:solidFill>
            <a:srgbClr val="8CC08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83464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706624" y="21671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출전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56432" y="1600200"/>
            <a:ext cx="658368" cy="86868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22" name="Shape 20"/>
          <p:cNvSpPr/>
          <p:nvPr/>
        </p:nvSpPr>
        <p:spPr>
          <a:xfrm>
            <a:off x="3584448" y="1691640"/>
            <a:ext cx="402336" cy="402336"/>
          </a:xfrm>
          <a:prstGeom prst="ellipse">
            <a:avLst/>
          </a:prstGeom>
          <a:solidFill>
            <a:srgbClr val="D982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584448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456432" y="21671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출전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06240" y="1600200"/>
            <a:ext cx="658368" cy="86868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26" name="Shape 24"/>
          <p:cNvSpPr/>
          <p:nvPr/>
        </p:nvSpPr>
        <p:spPr>
          <a:xfrm>
            <a:off x="4334256" y="1691640"/>
            <a:ext cx="402336" cy="402336"/>
          </a:xfrm>
          <a:prstGeom prst="ellipse">
            <a:avLst/>
          </a:prstGeom>
          <a:solidFill>
            <a:srgbClr val="C0442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34256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206240" y="21671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출전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2697480"/>
            <a:ext cx="658368" cy="86868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30" name="Shape 28"/>
          <p:cNvSpPr/>
          <p:nvPr/>
        </p:nvSpPr>
        <p:spPr>
          <a:xfrm>
            <a:off x="585216" y="2788920"/>
            <a:ext cx="402336" cy="402336"/>
          </a:xfrm>
          <a:prstGeom prst="ellipse">
            <a:avLst/>
          </a:prstGeom>
          <a:solidFill>
            <a:srgbClr val="8CC08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85216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26440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대기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207008" y="2697480"/>
            <a:ext cx="658368" cy="86868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34" name="Shape 32"/>
          <p:cNvSpPr/>
          <p:nvPr/>
        </p:nvSpPr>
        <p:spPr>
          <a:xfrm>
            <a:off x="1335024" y="2788920"/>
            <a:ext cx="402336" cy="402336"/>
          </a:xfrm>
          <a:prstGeom prst="ellipse">
            <a:avLst/>
          </a:prstGeom>
          <a:solidFill>
            <a:srgbClr val="8CC08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335024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207008" y="326440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대기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956816" y="2697480"/>
            <a:ext cx="658368" cy="86868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38" name="Shape 36"/>
          <p:cNvSpPr/>
          <p:nvPr/>
        </p:nvSpPr>
        <p:spPr>
          <a:xfrm>
            <a:off x="2084832" y="2788920"/>
            <a:ext cx="402336" cy="402336"/>
          </a:xfrm>
          <a:prstGeom prst="ellipse">
            <a:avLst/>
          </a:prstGeom>
          <a:solidFill>
            <a:srgbClr val="8CC08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2084832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956816" y="326440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대기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06624" y="2697480"/>
            <a:ext cx="658368" cy="86868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42" name="Shape 40"/>
          <p:cNvSpPr/>
          <p:nvPr/>
        </p:nvSpPr>
        <p:spPr>
          <a:xfrm>
            <a:off x="2834640" y="2788920"/>
            <a:ext cx="402336" cy="402336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283464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2706624" y="326440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대기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456432" y="2697480"/>
            <a:ext cx="658368" cy="86868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46" name="Shape 44"/>
          <p:cNvSpPr/>
          <p:nvPr/>
        </p:nvSpPr>
        <p:spPr>
          <a:xfrm>
            <a:off x="3584448" y="2788920"/>
            <a:ext cx="402336" cy="402336"/>
          </a:xfrm>
          <a:prstGeom prst="ellipse">
            <a:avLst/>
          </a:prstGeom>
          <a:solidFill>
            <a:srgbClr val="C0442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584448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3456432" y="326440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대기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206240" y="2697480"/>
            <a:ext cx="658368" cy="86868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50" name="Shape 48"/>
          <p:cNvSpPr/>
          <p:nvPr/>
        </p:nvSpPr>
        <p:spPr>
          <a:xfrm>
            <a:off x="4334256" y="2788920"/>
            <a:ext cx="402336" cy="402336"/>
          </a:xfrm>
          <a:prstGeom prst="ellipse">
            <a:avLst/>
          </a:prstGeom>
          <a:solidFill>
            <a:srgbClr val="8CC08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4334256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4206240" y="326440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신병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3886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윗줄 출전 6  ·  아랫줄 후방 대기 6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120640" y="1188720"/>
            <a:ext cx="3566160" cy="1042416"/>
          </a:xfrm>
          <a:prstGeom prst="roundRect">
            <a:avLst>
              <a:gd name="adj" fmla="val 7018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>
            <a:off x="5321808" y="13167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교대 대상 선택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5321808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피로 3~4 병사 제외 시 전력 공백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빈 자리는 피로 0 신병으로 보충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120640" y="2359152"/>
            <a:ext cx="3566160" cy="1042416"/>
          </a:xfrm>
          <a:prstGeom prst="roundRect">
            <a:avLst>
              <a:gd name="adj" fmla="val 7018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58" name="Text 56"/>
          <p:cNvSpPr txBox="1"/>
          <p:nvPr/>
        </p:nvSpPr>
        <p:spPr>
          <a:xfrm>
            <a:off x="5321808" y="2487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강행 출전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5321808" y="28163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PTSD 에이스의 막 보스 투입 여부 결정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출전 시 경고창 표시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120640" y="3529584"/>
            <a:ext cx="3566160" cy="1042416"/>
          </a:xfrm>
          <a:prstGeom prst="roundRect">
            <a:avLst>
              <a:gd name="adj" fmla="val 7018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5321808" y="3657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신병 모집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5321808" y="398678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사망 보충 + 교대 인원 확보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1마리당 보급품 35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06  아웃게임 시스템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병사 성장 (계급 / 스킬)</a:t>
            </a:r>
            <a:endParaRPr lang="en-US" sz="2400" dirty="0"/>
          </a:p>
        </p:txBody>
      </p:sp>
      <p:pic>
        <p:nvPicPr>
          <p:cNvPr id="4" name="Image 0" descr="C:/Project/RatWar/docs/concept_deck/jpg/shot_squa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188720"/>
            <a:ext cx="4754880" cy="26746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3931920" y="39319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분대 화면 (병사 정보 · 특성 · 스킬판)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계급 8단계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17904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이병 &gt; 일병 &gt; 상병 &gt; 병장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&gt; 하사 &gt; 중사 &gt; 상사 &gt; 원사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경험치: 처치 · 출전 · 승리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진급 보상: 명중 · 체력 + 스킬 1점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697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육각 스킬판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026664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신병 칸에서 이웃 칸으로 확장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갈래: 사격 · 화력 · 폭파 · 기동 · 지원 · 정찰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최다 투자 갈래 (2칸 이상) = 병종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두 갈래 균형 시 혼합 병종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06  아웃게임 시스템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병종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188720"/>
                <a:gridCol w="429768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병종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갈래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쥐 컨셉 스킬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소총수 (신병)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잽싼 발: 경계 사격 회피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저격수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저격소총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쥐구멍 매복: 사격 전까지 은신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기관총 사수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화력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경기관총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찍찍 함성: 명중 +10, 스트레스 -10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공병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폭파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철조망 갉기 · 땅굴 파기 · 폭약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코만도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기동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기관단총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벽 타기 · 소리 없는 칼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의무병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기관단총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치즈 배급: 스트레스 -25, 공황 해제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정찰병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수염 감지: 벽 너머 탐지 · 표적 지정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통신병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사격 + 정찰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기관단총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쥐떼 전령 · 무전 탐지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12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주술사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 + 정찰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기관단총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정신 지배 · 마법 방어막 (영매 필요)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1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06  아웃게임 시스템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신병 모집 / 특성</a:t>
            </a:r>
            <a:endParaRPr lang="en-US" sz="2400" dirty="0"/>
          </a:p>
        </p:txBody>
      </p:sp>
      <p:pic>
        <p:nvPicPr>
          <p:cNvPr id="4" name="Image 0" descr="C:/Project/RatWar/docs/concept_deck/jpg/shot_recru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206240" cy="236601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"딸에게 매일 편지를 쓴다. 아직 한 통도 못 부쳤다."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023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bg2"/>
                </a:solidFill>
              </a:rPr>
              <a:t>후보 3마리 · 1마리당 보급품 35 · 새로고침 8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bg2"/>
                </a:solidFill>
              </a:rPr>
              <a:t>이름 · 고향 · 사연 + 특성 2~3개 (충돌 조합 제외)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937760" y="1188720"/>
            <a:ext cx="3749040" cy="786384"/>
          </a:xfrm>
          <a:prstGeom prst="roundRect">
            <a:avLst>
              <a:gd name="adj" fmla="val 9302"/>
            </a:avLst>
          </a:prstGeom>
          <a:solidFill>
            <a:schemeClr val="tx2"/>
          </a:solidFill>
          <a:ln/>
        </p:spPr>
      </p:sp>
      <p:sp>
        <p:nvSpPr>
          <p:cNvPr id="8" name="Shape 5"/>
          <p:cNvSpPr/>
          <p:nvPr/>
        </p:nvSpPr>
        <p:spPr>
          <a:xfrm>
            <a:off x="5084064" y="1316736"/>
            <a:ext cx="164592" cy="16459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358384" y="1243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6"/>
                </a:solidFill>
              </a:rPr>
              <a:t>스트레스 관리용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358384" y="152704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1"/>
                </a:solidFill>
              </a:rPr>
              <a:t>용감함 · 겁쟁이 · 낙천가 · 비관론자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1"/>
                </a:solidFill>
              </a:rPr>
              <a:t>신앙심 · 술꾼 · 골초 · 향수병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937760" y="2066544"/>
            <a:ext cx="3749040" cy="786384"/>
          </a:xfrm>
          <a:prstGeom prst="roundRect">
            <a:avLst>
              <a:gd name="adj" fmla="val 9302"/>
            </a:avLst>
          </a:prstGeom>
          <a:solidFill>
            <a:schemeClr val="tx2"/>
          </a:solidFill>
          <a:ln/>
        </p:spPr>
      </p:sp>
      <p:sp>
        <p:nvSpPr>
          <p:cNvPr id="12" name="Shape 9"/>
          <p:cNvSpPr/>
          <p:nvPr/>
        </p:nvSpPr>
        <p:spPr>
          <a:xfrm>
            <a:off x="5084064" y="2194560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58384" y="2121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4"/>
                </a:solidFill>
              </a:rPr>
              <a:t>개체 특징용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358384" y="2404872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1"/>
                </a:solidFill>
              </a:rPr>
              <a:t>피에 굶주림 · 사이코패스 · 외톨이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1"/>
                </a:solidFill>
              </a:rPr>
              <a:t>타고난 지휘관 · 치즈 귀신 · 덤벙댐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937760" y="2944368"/>
            <a:ext cx="3749040" cy="786384"/>
          </a:xfrm>
          <a:prstGeom prst="roundRect">
            <a:avLst>
              <a:gd name="adj" fmla="val 9302"/>
            </a:avLst>
          </a:prstGeom>
          <a:solidFill>
            <a:schemeClr val="tx2"/>
          </a:solidFill>
          <a:ln/>
        </p:spPr>
      </p:sp>
      <p:sp>
        <p:nvSpPr>
          <p:cNvPr id="16" name="Shape 13"/>
          <p:cNvSpPr/>
          <p:nvPr/>
        </p:nvSpPr>
        <p:spPr>
          <a:xfrm>
            <a:off x="5084064" y="3072384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358384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관계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358384" y="328269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1"/>
                </a:solidFill>
              </a:rPr>
              <a:t>형제: 동반 출전 시 명중 +8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1"/>
                </a:solidFill>
              </a:rPr>
              <a:t>한쪽 사망 시 스트레스 +45, 명중 +15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937760" y="3822192"/>
            <a:ext cx="3749040" cy="786384"/>
          </a:xfrm>
          <a:prstGeom prst="roundRect">
            <a:avLst>
              <a:gd name="adj" fmla="val 9302"/>
            </a:avLst>
          </a:prstGeom>
          <a:solidFill>
            <a:schemeClr val="tx2"/>
          </a:solidFill>
          <a:ln/>
        </p:spPr>
      </p:sp>
      <p:sp>
        <p:nvSpPr>
          <p:cNvPr id="20" name="Shape 17"/>
          <p:cNvSpPr/>
          <p:nvPr/>
        </p:nvSpPr>
        <p:spPr>
          <a:xfrm>
            <a:off x="5084064" y="395020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358384" y="3877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희귀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358384" y="416052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1"/>
                </a:solidFill>
              </a:rPr>
              <a:t>영매 (15%)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1"/>
                </a:solidFill>
              </a:rPr>
              <a:t>주술사 전직 조건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06  아웃게임 시스템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시스템 연결 구조</a:t>
            </a:r>
            <a:endParaRPr lang="en-US" sz="2400" dirty="0"/>
          </a:p>
        </p:txBody>
      </p:sp>
      <p:pic>
        <p:nvPicPr>
          <p:cNvPr id="4" name="Image 0" descr="C:/Project/RatWar/docs/concept_deck/jpg/memori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188720"/>
            <a:ext cx="3566160" cy="2002536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57200" y="1188720"/>
            <a:ext cx="438912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6" name="Shape 3"/>
          <p:cNvSpPr/>
          <p:nvPr/>
        </p:nvSpPr>
        <p:spPr>
          <a:xfrm>
            <a:off x="603504" y="1344168"/>
            <a:ext cx="237744" cy="23774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87552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사연 / 특성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566160" y="11887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개체별 개성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1847088"/>
            <a:ext cx="438912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0" name="Shape 7"/>
          <p:cNvSpPr/>
          <p:nvPr/>
        </p:nvSpPr>
        <p:spPr>
          <a:xfrm>
            <a:off x="603504" y="2002536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87552" y="18470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스킬 / 병종 육성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184708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직접 키운 병사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2505456"/>
            <a:ext cx="438912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4" name="Shape 11"/>
          <p:cNvSpPr/>
          <p:nvPr/>
        </p:nvSpPr>
        <p:spPr>
          <a:xfrm>
            <a:off x="603504" y="2660904"/>
            <a:ext cx="237744" cy="23774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87552" y="250545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애착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163824"/>
            <a:ext cx="438912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7" name="Shape 14"/>
          <p:cNvSpPr/>
          <p:nvPr/>
        </p:nvSpPr>
        <p:spPr>
          <a:xfrm>
            <a:off x="603504" y="3319272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87552" y="316382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부위파괴 / 스트레스 / 영구 사망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3163824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상실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3822192"/>
            <a:ext cx="438912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21" name="Shape 18"/>
          <p:cNvSpPr/>
          <p:nvPr/>
        </p:nvSpPr>
        <p:spPr>
          <a:xfrm>
            <a:off x="603504" y="3977640"/>
            <a:ext cx="237744" cy="23774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87552" y="38221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최전방 교대 / 신병 모집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3566160" y="382219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빈 자리 보충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5262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</a:rPr>
              <a:t>-&gt; 새 병사로 1번부터 반복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120640" y="33832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성장으로 애착 형성, 상실 시 소중함 부각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전사자는 추모비에 사망 방식과 함께 기록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형제 사망 시 남은 쪽 능력치 · 스트레스 변화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Project/RatWar/docs/concept_deck/jpg/memori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78000"/>
            </a:scheme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목표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37160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전투가 끝난 뒤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돌아오지 못한 병사를 확인하는 순간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31520" y="3063240"/>
            <a:ext cx="2423160" cy="960120"/>
          </a:xfrm>
          <a:prstGeom prst="roundRect">
            <a:avLst>
              <a:gd name="adj" fmla="val 7619"/>
            </a:avLst>
          </a:prstGeom>
          <a:solidFill>
            <a:schemeClr val="tx2">
              <a:alpha val="85000"/>
            </a:scheme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320040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비쥬얼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플랫 그림체 + 입체 전장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55848" y="3063240"/>
            <a:ext cx="2423160" cy="960120"/>
          </a:xfrm>
          <a:prstGeom prst="roundRect">
            <a:avLst>
              <a:gd name="adj" fmla="val 7619"/>
            </a:avLst>
          </a:prstGeom>
          <a:solidFill>
            <a:schemeClr val="tx2">
              <a:alpha val="85000"/>
            </a:scheme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55848" y="320040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전투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355848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확률 판정 + 부위파괴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80176" y="3063240"/>
            <a:ext cx="2423160" cy="960120"/>
          </a:xfrm>
          <a:prstGeom prst="roundRect">
            <a:avLst>
              <a:gd name="adj" fmla="val 7619"/>
            </a:avLst>
          </a:prstGeom>
          <a:solidFill>
            <a:schemeClr val="tx2">
              <a:alpha val="85000"/>
            </a:scheme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80176" y="320040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관리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980176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스트레스 + 최전방 교대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5262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쥐들의 전쟁 · 컨셉 기획서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tWar">
  <a:themeElements>
    <a:clrScheme name="RatWar">
      <a:dk1>
        <a:srgbClr val="1E1B14"/>
      </a:dk1>
      <a:lt1>
        <a:srgbClr val="EEE7D4"/>
      </a:lt1>
      <a:dk2>
        <a:srgbClr val="2D2920"/>
      </a:dk2>
      <a:lt2>
        <a:srgbClr val="A9A189"/>
      </a:lt2>
      <a:accent1>
        <a:srgbClr val="F2C230"/>
      </a:accent1>
      <a:accent2>
        <a:srgbClr val="C0442F"/>
      </a:accent2>
      <a:accent3>
        <a:srgbClr val="6E6D3C"/>
      </a:accent3>
      <a:accent4>
        <a:srgbClr val="6FA8D8"/>
      </a:accent4>
      <a:accent5>
        <a:srgbClr val="8CC08F"/>
      </a:accent5>
      <a:accent6>
        <a:srgbClr val="B39DDB"/>
      </a:accent6>
      <a:hlink>
        <a:srgbClr val="F2C230"/>
      </a:hlink>
      <a:folHlink>
        <a:srgbClr val="A9A189"/>
      </a:folHlink>
    </a:clrScheme>
    <a:fontScheme name="RatWar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쥐들의 전쟁 — 컨셉 기획서</dc:title>
  <dc:subject>PptxGenJS Presentation</dc:subject>
  <dc:creator>정승운</dc:creator>
  <cp:lastModifiedBy>정승운</cp:lastModifiedBy>
  <cp:revision>1</cp:revision>
  <dcterms:created xsi:type="dcterms:W3CDTF">2026-10-28T03:39:44Z</dcterms:created>
  <dcterms:modified xsi:type="dcterms:W3CDTF">2026-10-28T03:39:44Z</dcterms:modified>
</cp:coreProperties>
</file>