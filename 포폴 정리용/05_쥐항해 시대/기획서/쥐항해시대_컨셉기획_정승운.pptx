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4B2B"/>
    <a:srgbClr val="30201B"/>
    <a:srgbClr val="F4D5A3"/>
    <a:srgbClr val="174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>
        <p:scale>
          <a:sx n="50" d="100"/>
          <a:sy n="50" d="100"/>
        </p:scale>
        <p:origin x="68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9BC83-E835-F1E8-BF3B-447612BB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C179C0-BD35-C989-9E51-6F11B6A82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CC470-20C1-B34E-0C80-B80D93E1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90CEF7-D1A6-7FBA-60CB-09F02A43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0F1C85-F633-19E9-7D67-5850E31E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48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9A819-751F-D0CA-0839-51AB4593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C7A89-B077-3D79-9F4A-6179B19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E13023-2A4F-3AA9-C179-B31D64B8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D7AD7-4DD0-0B53-88C6-6FFDFC4E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30565-75B8-B0CE-267E-ED132E11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60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1B1E5-D80D-C1E2-BA4E-866F58C9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951BA4-8ADF-804F-591F-3CC7D48EC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20739-1C28-C71E-AC15-71030952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DADE4-B6E6-8F84-0FAD-E4D320EC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BB4891-170D-395F-9DDE-CA1CA037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11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147A2-2191-939F-F40F-01CD6352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EFD30-8FCA-7C94-6ECA-14C639CEA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C02E1-EC78-160F-336F-47099BB54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B0E61-1025-B005-CB6A-46EB2472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57A26B-9BA6-F0B3-879C-95EC9DAE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7813FA-9F83-CCD1-9CCD-FA745F75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22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8C3B1-2F8B-E4D9-5A93-FF00D573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B1AD8-C043-622D-B42F-850444F58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B00B16-EA50-AAC9-93B0-FB2420125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234A34-F6E3-CE8B-C61C-4C61D6736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32052D-81B0-1EE5-8392-51B550A9A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2083B9-0145-8F48-4BDA-5AD71C07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D39273-B270-1246-4AF8-28C6FB33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319329-6C98-C611-57F8-AEF32673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16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C0FFF-DF51-68B4-5AD3-B5EAAB2F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370B92-A2AA-D67E-9188-CA5E1246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425D8F-F971-EEFA-D1C0-A74DF916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190D37-FD3B-2DFF-52E6-ED42410A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1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529A0C-77C3-ADB7-5A5A-C70A5511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B17362-6C16-966F-403B-E08FB0BF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EDFDF-9E55-87F9-E527-7D22ACE0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78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3AE25-4AF8-0DE9-2839-7553112C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F9329-6FBC-6ABE-D6ED-61A6C273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0A5D92-0AF8-9B87-8783-779F8D664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0E3F39-8745-FFFE-965D-DC641F3A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E922D1-AEE0-7D51-F858-631CE58F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B143B6-FCAC-126A-1A73-4F6426F3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39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60E71-556E-FD18-7811-271C991B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725748-290D-23CF-5AC3-65B1EDC0661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9A98F9-9918-B46A-444D-C78CEB5DB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200C98-FF30-64EE-A7B8-4807179E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363A46-18F2-6C1A-18AA-A8264BA4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C92119-A994-44B7-8B5C-5C853D0B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42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D1781-79F8-B0EC-B747-73171162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D5C693-DFA5-5DEE-C580-3697443F6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1C1C8-74F2-8208-D196-03613456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18692-5DF7-446A-0712-0E0054BD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2B241-9C0E-BEB1-A76F-404C73F5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95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4D8A36-E251-7077-4393-BCC08E074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C09906-8953-C6BF-A6B4-12B447197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EF0B77-7167-E76B-8130-47024A41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7D912A-D8D4-0A7A-EA2B-84376CE6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3E13C-1E7E-E019-C4E0-68F9F6C9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4EAD27-A76F-4B4B-738E-F01A34EF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7D283E-A134-997B-8E9A-2D677D3C0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00D4-CF29-6586-92D3-607C1C7A7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5A3F4-EB03-4F4C-B7AC-A40FC8C8782C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779B33-1C3F-18DB-F21F-18C124408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36CFA-FC4B-F330-AAC0-0B12BF3FD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37B08-95F5-464E-8C82-E22BCF0A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75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6D2ADB2-9FFB-56B6-63E9-72673C105EC3}"/>
              </a:ext>
            </a:extLst>
          </p:cNvPr>
          <p:cNvGrpSpPr/>
          <p:nvPr/>
        </p:nvGrpSpPr>
        <p:grpSpPr>
          <a:xfrm>
            <a:off x="0" y="-14288"/>
            <a:ext cx="12192000" cy="11499850"/>
            <a:chOff x="0" y="0"/>
            <a:chExt cx="12192000" cy="114998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DA8C1EA-CE5D-5B78-1CC4-52C078548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84"/>
            <a:stretch>
              <a:fillRect/>
            </a:stretch>
          </p:blipFill>
          <p:spPr>
            <a:xfrm>
              <a:off x="0" y="0"/>
              <a:ext cx="9981967" cy="6858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018AF42-B517-DE99-6C12-8E9E28305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5310" y="0"/>
              <a:ext cx="10476690" cy="11499850"/>
            </a:xfrm>
            <a:prstGeom prst="rect">
              <a:avLst/>
            </a:prstGeom>
          </p:spPr>
        </p:pic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0BDAA2FF-07AE-27AD-2C93-E3C50ED3EB92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쥐 해적선 게임 컨셉 기획서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CC92CD-B62A-52DA-E4AB-3C0BCBE613E7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B5A9B-5BA0-838E-D489-DB8E034B6DC4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A567D5-AED6-9E31-974B-7B8FB233700D}"/>
              </a:ext>
            </a:extLst>
          </p:cNvPr>
          <p:cNvSpPr txBox="1"/>
          <p:nvPr/>
        </p:nvSpPr>
        <p:spPr>
          <a:xfrm>
            <a:off x="9907458" y="3607535"/>
            <a:ext cx="155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337ED33-1531-AB5C-1C12-106921F0C859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E219E0-CBAD-711A-2A93-23839D09BE74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19E69-40D7-B7FA-3BF2-73E15E2BEF3C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205FA-1D87-FBE8-BD2A-2AD531638658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9A39A-829F-91AF-9916-9460B6395CEF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6509C-2728-F810-C6FB-CB5D4308EE2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73C09-C874-B1B6-2741-DBC993449722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927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380AE-0A0D-78B0-CD91-0E0DA2E6B247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5BFE0C7-3BA0-85AB-3B63-FA21B5BD7AA4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CD83C9-1DE6-9AA5-DC40-3A87A9BE5BFC}"/>
              </a:ext>
            </a:extLst>
          </p:cNvPr>
          <p:cNvSpPr/>
          <p:nvPr/>
        </p:nvSpPr>
        <p:spPr>
          <a:xfrm>
            <a:off x="1143260" y="1868296"/>
            <a:ext cx="246438" cy="5847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3B10F-F3C0-F5BA-1647-54559E072B00}"/>
              </a:ext>
            </a:extLst>
          </p:cNvPr>
          <p:cNvSpPr txBox="1"/>
          <p:nvPr/>
        </p:nvSpPr>
        <p:spPr>
          <a:xfrm>
            <a:off x="1389698" y="1894991"/>
            <a:ext cx="18192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r>
              <a:rPr lang="en-US" altLang="ko-KR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346C5-C504-8F11-C07E-331202ADB448}"/>
              </a:ext>
            </a:extLst>
          </p:cNvPr>
          <p:cNvSpPr txBox="1"/>
          <p:nvPr/>
        </p:nvSpPr>
        <p:spPr>
          <a:xfrm>
            <a:off x="1938721" y="2453072"/>
            <a:ext cx="2184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원페이지 기획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재미 요소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메카닉스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2C7C61-56E4-6714-5E57-7B4F1F0B83E0}"/>
              </a:ext>
            </a:extLst>
          </p:cNvPr>
          <p:cNvSpPr/>
          <p:nvPr/>
        </p:nvSpPr>
        <p:spPr>
          <a:xfrm>
            <a:off x="1143260" y="3663845"/>
            <a:ext cx="246438" cy="5847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72439-8037-52C6-ADF5-15F4440AB8C8}"/>
              </a:ext>
            </a:extLst>
          </p:cNvPr>
          <p:cNvSpPr txBox="1"/>
          <p:nvPr/>
        </p:nvSpPr>
        <p:spPr>
          <a:xfrm>
            <a:off x="1449743" y="3675075"/>
            <a:ext cx="18192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0C07E-DC21-794E-2762-C9EB58350326}"/>
              </a:ext>
            </a:extLst>
          </p:cNvPr>
          <p:cNvSpPr txBox="1"/>
          <p:nvPr/>
        </p:nvSpPr>
        <p:spPr>
          <a:xfrm>
            <a:off x="1877389" y="4248621"/>
            <a:ext cx="218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 스타일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48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C95B3-10C2-203C-50E5-3D5DD477D77A}"/>
              </a:ext>
            </a:extLst>
          </p:cNvPr>
          <p:cNvSpPr txBox="1"/>
          <p:nvPr/>
        </p:nvSpPr>
        <p:spPr>
          <a:xfrm>
            <a:off x="740328" y="746202"/>
            <a:ext cx="209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99B6ADA-AE71-1DA0-F7B1-2DAF56100196}"/>
              </a:ext>
            </a:extLst>
          </p:cNvPr>
          <p:cNvCxnSpPr>
            <a:cxnSpLocks/>
          </p:cNvCxnSpPr>
          <p:nvPr/>
        </p:nvCxnSpPr>
        <p:spPr>
          <a:xfrm flipH="1">
            <a:off x="844719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E6F7657-B0C6-1740-7F42-FB1F94813F15}"/>
              </a:ext>
            </a:extLst>
          </p:cNvPr>
          <p:cNvSpPr txBox="1"/>
          <p:nvPr/>
        </p:nvSpPr>
        <p:spPr>
          <a:xfrm>
            <a:off x="2809596" y="940884"/>
            <a:ext cx="19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원페이지 기획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7F3E453-F2F6-F32A-D655-2625B90F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22767"/>
              </p:ext>
            </p:extLst>
          </p:nvPr>
        </p:nvGraphicFramePr>
        <p:xfrm>
          <a:off x="1048996" y="1525659"/>
          <a:ext cx="5411819" cy="2613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099">
                  <a:extLst>
                    <a:ext uri="{9D8B030D-6E8A-4147-A177-3AD203B41FA5}">
                      <a16:colId xmlns:a16="http://schemas.microsoft.com/office/drawing/2014/main" val="287992535"/>
                    </a:ext>
                  </a:extLst>
                </a:gridCol>
                <a:gridCol w="4289720">
                  <a:extLst>
                    <a:ext uri="{9D8B030D-6E8A-4147-A177-3AD203B41FA5}">
                      <a16:colId xmlns:a16="http://schemas.microsoft.com/office/drawing/2014/main" val="288179369"/>
                    </a:ext>
                  </a:extLst>
                </a:gridCol>
              </a:tblGrid>
              <a:tr h="3912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게임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쥐해적선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07251"/>
                  </a:ext>
                </a:extLst>
              </a:tr>
              <a:tr h="573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컨셉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쥐 해적선을 키워 고양이 해적단과 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인간 해적단을 물리치는 게임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099888"/>
                  </a:ext>
                </a:extLst>
              </a:tr>
              <a:tr h="573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타겟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포탄을 쏘면서 피하고 함선을 파괴하며 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약탈하는 맛을 즐기고 싶은 캐주얼 액션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08255"/>
                  </a:ext>
                </a:extLst>
              </a:tr>
              <a:tr h="106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재미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게임 속 내 배를 조종하여 적들의 포탄을 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회피하고 섬멸하여 성장하는 재미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!!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5164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05A061F-3E7A-B079-DBFC-76FF45AA469F}"/>
              </a:ext>
            </a:extLst>
          </p:cNvPr>
          <p:cNvSpPr txBox="1"/>
          <p:nvPr/>
        </p:nvSpPr>
        <p:spPr>
          <a:xfrm>
            <a:off x="944607" y="4323817"/>
            <a:ext cx="2096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메카닉스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3C035-C78E-3A87-D09B-79DD34BD222B}"/>
              </a:ext>
            </a:extLst>
          </p:cNvPr>
          <p:cNvSpPr txBox="1"/>
          <p:nvPr/>
        </p:nvSpPr>
        <p:spPr>
          <a:xfrm>
            <a:off x="1289512" y="4785482"/>
            <a:ext cx="5411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ptos Serif" panose="02020604070405020304" pitchFamily="18" charset="0"/>
              <a:buChar char="–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항해하며 보물을 탐색하는 재미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ptos Serif" panose="02020604070405020304" pitchFamily="18" charset="0"/>
              <a:buChar char="–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적대적 유닛과 함포 대결하며 적을 섬멸하는 재미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ptos Serif" panose="02020604070405020304" pitchFamily="18" charset="0"/>
              <a:buChar char="–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적대 유닛을 죽이거나 금을 이용한 유닛 강화 및 해금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DDDEB-A085-E81E-FABC-C9E66CA7D21F}"/>
              </a:ext>
            </a:extLst>
          </p:cNvPr>
          <p:cNvSpPr txBox="1"/>
          <p:nvPr/>
        </p:nvSpPr>
        <p:spPr>
          <a:xfrm>
            <a:off x="6701331" y="1537452"/>
            <a:ext cx="2096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예상 이미지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685D999-3DDF-6E19-6931-DBA62D8DF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367" y="1999116"/>
            <a:ext cx="4367738" cy="245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C0021-0DA0-97BD-189C-CCC1D804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8B2D1-94F4-77A3-C89A-82FB67D8D0E5}"/>
              </a:ext>
            </a:extLst>
          </p:cNvPr>
          <p:cNvSpPr txBox="1"/>
          <p:nvPr/>
        </p:nvSpPr>
        <p:spPr>
          <a:xfrm>
            <a:off x="740328" y="746202"/>
            <a:ext cx="209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9D6BC73-4AD4-2698-FA53-06FF2F1AAD5B}"/>
              </a:ext>
            </a:extLst>
          </p:cNvPr>
          <p:cNvCxnSpPr>
            <a:cxnSpLocks/>
          </p:cNvCxnSpPr>
          <p:nvPr/>
        </p:nvCxnSpPr>
        <p:spPr>
          <a:xfrm flipH="1">
            <a:off x="844719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D965AA7-379E-A38C-7B16-F23033DF4AB3}"/>
              </a:ext>
            </a:extLst>
          </p:cNvPr>
          <p:cNvSpPr txBox="1"/>
          <p:nvPr/>
        </p:nvSpPr>
        <p:spPr>
          <a:xfrm>
            <a:off x="2809596" y="940884"/>
            <a:ext cx="19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재미요소</a:t>
            </a:r>
          </a:p>
        </p:txBody>
      </p:sp>
      <p:pic>
        <p:nvPicPr>
          <p:cNvPr id="2" name="그림 1" descr="해적선 그림 로열티 무료 사진, 그림, 이미지 그리고 스톡포토그래피. Image 15657181">
            <a:extLst>
              <a:ext uri="{FF2B5EF4-FFF2-40B4-BE49-F238E27FC236}">
                <a16:creationId xmlns:a16="http://schemas.microsoft.com/office/drawing/2014/main" id="{280F99BD-66BA-8A7D-F02D-798B7106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02" y="1905371"/>
            <a:ext cx="1793302" cy="1965493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EDC3B42-C981-6A2D-A5A6-C33DEB5E41DD}"/>
              </a:ext>
            </a:extLst>
          </p:cNvPr>
          <p:cNvCxnSpPr/>
          <p:nvPr/>
        </p:nvCxnSpPr>
        <p:spPr>
          <a:xfrm>
            <a:off x="4251157" y="2385518"/>
            <a:ext cx="0" cy="3155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12777DF-F177-CAAF-4C30-07B1F93D41E1}"/>
              </a:ext>
            </a:extLst>
          </p:cNvPr>
          <p:cNvCxnSpPr/>
          <p:nvPr/>
        </p:nvCxnSpPr>
        <p:spPr>
          <a:xfrm>
            <a:off x="8069178" y="2385518"/>
            <a:ext cx="0" cy="3155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9467A-66C1-6942-0F4A-504D4FC962DB}"/>
              </a:ext>
            </a:extLst>
          </p:cNvPr>
          <p:cNvSpPr txBox="1"/>
          <p:nvPr/>
        </p:nvSpPr>
        <p:spPr>
          <a:xfrm>
            <a:off x="1016370" y="4077752"/>
            <a:ext cx="28449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배를 움직여 적들의 </a:t>
            </a:r>
            <a:endParaRPr lang="en-US" altLang="ko-KR" sz="2000" dirty="0"/>
          </a:p>
          <a:p>
            <a:pPr algn="ctr"/>
            <a:r>
              <a:rPr lang="ko-KR" altLang="en-US" sz="2000" dirty="0"/>
              <a:t>공격을 회피하고 </a:t>
            </a:r>
            <a:endParaRPr lang="en-US" altLang="ko-KR" sz="2000" dirty="0"/>
          </a:p>
          <a:p>
            <a:pPr algn="ctr"/>
            <a:r>
              <a:rPr lang="ko-KR" altLang="en-US" sz="2000" dirty="0"/>
              <a:t>적에게 포격을 가하는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r>
              <a:rPr lang="ko-KR" altLang="en-US" sz="2000" b="1" dirty="0"/>
              <a:t>전술적 재미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8D572-9FF6-B94D-9B51-8C7EE6B9F327}"/>
              </a:ext>
            </a:extLst>
          </p:cNvPr>
          <p:cNvSpPr txBox="1"/>
          <p:nvPr/>
        </p:nvSpPr>
        <p:spPr>
          <a:xfrm>
            <a:off x="4526504" y="4077752"/>
            <a:ext cx="32673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포격으로 적을 공격해</a:t>
            </a:r>
            <a:endParaRPr lang="en-US" altLang="ko-KR" sz="2000" dirty="0"/>
          </a:p>
          <a:p>
            <a:pPr algn="ctr"/>
            <a:r>
              <a:rPr lang="ko-KR" altLang="en-US" sz="2000" dirty="0"/>
              <a:t>자원 약탈 및 포로들을 </a:t>
            </a:r>
            <a:endParaRPr lang="en-US" altLang="ko-KR" sz="2000" dirty="0"/>
          </a:p>
          <a:p>
            <a:pPr algn="ctr"/>
            <a:r>
              <a:rPr lang="ko-KR" altLang="en-US" sz="2000" dirty="0"/>
              <a:t>구출하는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r>
              <a:rPr lang="ko-KR" altLang="en-US" sz="2000" b="1" dirty="0"/>
              <a:t>전투적 재미</a:t>
            </a:r>
          </a:p>
        </p:txBody>
      </p:sp>
      <p:pic>
        <p:nvPicPr>
          <p:cNvPr id="11" name="그림 10" descr="보물 상자와 보물 일러스트 로열티 무료 사진, 그림, 이미지 그리고 스톡포토그래피. Image 137799698">
            <a:extLst>
              <a:ext uri="{FF2B5EF4-FFF2-40B4-BE49-F238E27FC236}">
                <a16:creationId xmlns:a16="http://schemas.microsoft.com/office/drawing/2014/main" id="{F0865BFE-2CB7-0371-1D11-B233C7ED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679" y="2023014"/>
            <a:ext cx="2466975" cy="18478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3DA348-5AE4-4FBE-B40E-E5C79C2F79B1}"/>
              </a:ext>
            </a:extLst>
          </p:cNvPr>
          <p:cNvSpPr txBox="1"/>
          <p:nvPr/>
        </p:nvSpPr>
        <p:spPr>
          <a:xfrm>
            <a:off x="8277725" y="4385529"/>
            <a:ext cx="34009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유닛들을 황금으로 강화</a:t>
            </a:r>
            <a:endParaRPr lang="en-US" altLang="ko-KR" sz="2000" dirty="0"/>
          </a:p>
          <a:p>
            <a:pPr algn="ctr"/>
            <a:r>
              <a:rPr lang="ko-KR" altLang="en-US" sz="2000" dirty="0"/>
              <a:t>해금 하여 내 함선을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r>
              <a:rPr lang="ko-KR" altLang="en-US" sz="2000" b="1" dirty="0"/>
              <a:t>강화 하는 재미</a:t>
            </a:r>
          </a:p>
        </p:txBody>
      </p:sp>
      <p:pic>
        <p:nvPicPr>
          <p:cNvPr id="15" name="그래픽 14" descr="비커 단색으로 채워진">
            <a:extLst>
              <a:ext uri="{FF2B5EF4-FFF2-40B4-BE49-F238E27FC236}">
                <a16:creationId xmlns:a16="http://schemas.microsoft.com/office/drawing/2014/main" id="{13092B72-EAA7-98B8-08F9-79631F6B7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4262" y="2115316"/>
            <a:ext cx="18478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6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085451-F13D-2070-F7BD-D5D51CF6D90A}"/>
              </a:ext>
            </a:extLst>
          </p:cNvPr>
          <p:cNvSpPr txBox="1"/>
          <p:nvPr/>
        </p:nvSpPr>
        <p:spPr>
          <a:xfrm>
            <a:off x="740328" y="746202"/>
            <a:ext cx="209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9A319-D7D6-0080-9DDB-F7389DB4A543}"/>
              </a:ext>
            </a:extLst>
          </p:cNvPr>
          <p:cNvCxnSpPr>
            <a:cxnSpLocks/>
          </p:cNvCxnSpPr>
          <p:nvPr/>
        </p:nvCxnSpPr>
        <p:spPr>
          <a:xfrm flipH="1">
            <a:off x="844719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DE94DB7-6A80-EEEB-ECBB-D447E1B5EDFF}"/>
              </a:ext>
            </a:extLst>
          </p:cNvPr>
          <p:cNvSpPr txBox="1"/>
          <p:nvPr/>
        </p:nvSpPr>
        <p:spPr>
          <a:xfrm>
            <a:off x="2809596" y="940884"/>
            <a:ext cx="19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원페이지 기획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46D3D2E-966E-1969-6371-85F5152F5E5C}"/>
              </a:ext>
            </a:extLst>
          </p:cNvPr>
          <p:cNvSpPr/>
          <p:nvPr/>
        </p:nvSpPr>
        <p:spPr>
          <a:xfrm>
            <a:off x="2378449" y="1721282"/>
            <a:ext cx="689811" cy="64168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약탈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E3FBD6A-9ADF-3BED-FD53-AF7E9BFAC591}"/>
              </a:ext>
            </a:extLst>
          </p:cNvPr>
          <p:cNvSpPr/>
          <p:nvPr/>
        </p:nvSpPr>
        <p:spPr>
          <a:xfrm>
            <a:off x="1524000" y="2787318"/>
            <a:ext cx="689811" cy="64168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성장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E0BF649-236A-B562-FFC2-602ABACBB98C}"/>
              </a:ext>
            </a:extLst>
          </p:cNvPr>
          <p:cNvSpPr/>
          <p:nvPr/>
        </p:nvSpPr>
        <p:spPr>
          <a:xfrm>
            <a:off x="3179763" y="2787318"/>
            <a:ext cx="689811" cy="6416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전투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1CB10FD-E4B7-A701-DE7E-038D1A89189C}"/>
              </a:ext>
            </a:extLst>
          </p:cNvPr>
          <p:cNvSpPr/>
          <p:nvPr/>
        </p:nvSpPr>
        <p:spPr>
          <a:xfrm rot="10800000">
            <a:off x="2378449" y="2981741"/>
            <a:ext cx="548562" cy="320841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33494BA2-542C-F331-212C-3BE9D972C288}"/>
              </a:ext>
            </a:extLst>
          </p:cNvPr>
          <p:cNvSpPr/>
          <p:nvPr/>
        </p:nvSpPr>
        <p:spPr>
          <a:xfrm rot="18552814">
            <a:off x="2016901" y="2357862"/>
            <a:ext cx="438123" cy="320841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2B1214F-8526-49D4-77A3-F9813B6EFEAA}"/>
              </a:ext>
            </a:extLst>
          </p:cNvPr>
          <p:cNvSpPr/>
          <p:nvPr/>
        </p:nvSpPr>
        <p:spPr>
          <a:xfrm rot="3131054">
            <a:off x="3009437" y="2393645"/>
            <a:ext cx="413993" cy="320841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742398-C9B7-1582-8648-2300BCEF2E5F}"/>
              </a:ext>
            </a:extLst>
          </p:cNvPr>
          <p:cNvSpPr txBox="1"/>
          <p:nvPr/>
        </p:nvSpPr>
        <p:spPr>
          <a:xfrm>
            <a:off x="3578137" y="1611343"/>
            <a:ext cx="110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코어 루프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7E90CE4-6F26-EEAB-0B9F-0A2CAE7E6AE1}"/>
              </a:ext>
            </a:extLst>
          </p:cNvPr>
          <p:cNvSpPr/>
          <p:nvPr/>
        </p:nvSpPr>
        <p:spPr>
          <a:xfrm>
            <a:off x="1291814" y="3973041"/>
            <a:ext cx="2815729" cy="23222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CD22365-BD20-2C62-5881-237BABF8430A}"/>
              </a:ext>
            </a:extLst>
          </p:cNvPr>
          <p:cNvSpPr/>
          <p:nvPr/>
        </p:nvSpPr>
        <p:spPr>
          <a:xfrm>
            <a:off x="4773589" y="3973041"/>
            <a:ext cx="2815729" cy="23222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EFF2B67-A90D-70C1-C77D-CCE5607C1B11}"/>
              </a:ext>
            </a:extLst>
          </p:cNvPr>
          <p:cNvSpPr/>
          <p:nvPr/>
        </p:nvSpPr>
        <p:spPr>
          <a:xfrm>
            <a:off x="8255364" y="3973041"/>
            <a:ext cx="2815729" cy="23222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45EC824-3F2F-3D51-9FCE-12E6B47EE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89" y="3969184"/>
            <a:ext cx="1266378" cy="12663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77D6C03-C8B9-E878-1B56-B4943464A638}"/>
              </a:ext>
            </a:extLst>
          </p:cNvPr>
          <p:cNvSpPr txBox="1"/>
          <p:nvPr/>
        </p:nvSpPr>
        <p:spPr>
          <a:xfrm>
            <a:off x="1518217" y="5314081"/>
            <a:ext cx="2351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배들을 조종하여 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함포를 사격하여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적대 유닛과의 </a:t>
            </a:r>
            <a:r>
              <a:rPr lang="ko-KR" altLang="en-US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8971A4-927F-DDE9-2D55-55AA506C0D38}"/>
              </a:ext>
            </a:extLst>
          </p:cNvPr>
          <p:cNvSpPr txBox="1"/>
          <p:nvPr/>
        </p:nvSpPr>
        <p:spPr>
          <a:xfrm>
            <a:off x="5005774" y="5515429"/>
            <a:ext cx="2351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약탈 및 보물 찾기를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이용한 </a:t>
            </a:r>
            <a:r>
              <a:rPr lang="ko-KR" altLang="en-US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 자원 수집</a:t>
            </a:r>
            <a:endParaRPr lang="en-US" altLang="ko-KR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E2D7A2-EC44-D51C-3797-A0F2D0895616}"/>
              </a:ext>
            </a:extLst>
          </p:cNvPr>
          <p:cNvSpPr txBox="1"/>
          <p:nvPr/>
        </p:nvSpPr>
        <p:spPr>
          <a:xfrm>
            <a:off x="8487549" y="5544458"/>
            <a:ext cx="2351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수집하여 함선 강화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하며 </a:t>
            </a:r>
            <a:r>
              <a:rPr lang="ko-KR" altLang="en-US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업그레이드</a:t>
            </a:r>
            <a:endParaRPr lang="en-US" altLang="ko-KR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 descr="강화된 아이콘, 로고, 기호 – PNG, SVG 무료 다운로드">
            <a:extLst>
              <a:ext uri="{FF2B5EF4-FFF2-40B4-BE49-F238E27FC236}">
                <a16:creationId xmlns:a16="http://schemas.microsoft.com/office/drawing/2014/main" id="{B9D0CFE2-0150-85BE-3076-D5AA89A1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59" y="4115495"/>
            <a:ext cx="1266378" cy="1266378"/>
          </a:xfrm>
          <a:prstGeom prst="rect">
            <a:avLst/>
          </a:prstGeom>
        </p:spPr>
      </p:pic>
      <p:pic>
        <p:nvPicPr>
          <p:cNvPr id="39" name="그림 38" descr="금의 기원.. 우주에서 금은 어떻게 만들어졌나? - 인터넷 강화뉴스">
            <a:extLst>
              <a:ext uri="{FF2B5EF4-FFF2-40B4-BE49-F238E27FC236}">
                <a16:creationId xmlns:a16="http://schemas.microsoft.com/office/drawing/2014/main" id="{A63D31D5-8A89-ED66-D237-FDC629BD3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23" y="4098054"/>
            <a:ext cx="1614057" cy="12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4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0318B8-56B4-EC56-FAAB-30C2FFD5731C}"/>
              </a:ext>
            </a:extLst>
          </p:cNvPr>
          <p:cNvSpPr txBox="1"/>
          <p:nvPr/>
        </p:nvSpPr>
        <p:spPr>
          <a:xfrm>
            <a:off x="844719" y="735821"/>
            <a:ext cx="1335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1ADE756-17A9-0152-C538-9A33571AD969}"/>
              </a:ext>
            </a:extLst>
          </p:cNvPr>
          <p:cNvCxnSpPr>
            <a:cxnSpLocks/>
          </p:cNvCxnSpPr>
          <p:nvPr/>
        </p:nvCxnSpPr>
        <p:spPr>
          <a:xfrm flipH="1">
            <a:off x="844719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7CF340-9197-9586-E0BB-974760975586}"/>
              </a:ext>
            </a:extLst>
          </p:cNvPr>
          <p:cNvSpPr txBox="1"/>
          <p:nvPr/>
        </p:nvSpPr>
        <p:spPr>
          <a:xfrm>
            <a:off x="2179934" y="942837"/>
            <a:ext cx="19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 스타일</a:t>
            </a:r>
          </a:p>
        </p:txBody>
      </p:sp>
      <p:pic>
        <p:nvPicPr>
          <p:cNvPr id="7" name="그림 6" descr="쥐(Mouse or Rat)">
            <a:extLst>
              <a:ext uri="{FF2B5EF4-FFF2-40B4-BE49-F238E27FC236}">
                <a16:creationId xmlns:a16="http://schemas.microsoft.com/office/drawing/2014/main" id="{D1115EDF-7F28-CFB0-94EF-3C2112F88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46" y="2644888"/>
            <a:ext cx="2466975" cy="2478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2CFDC7-98A6-2B00-7CBC-85B25F8B75FA}"/>
              </a:ext>
            </a:extLst>
          </p:cNvPr>
          <p:cNvSpPr txBox="1"/>
          <p:nvPr/>
        </p:nvSpPr>
        <p:spPr>
          <a:xfrm>
            <a:off x="946446" y="1937002"/>
            <a:ext cx="2466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찍찍찍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게임내 쥐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pPr algn="ctr"/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고양이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인간 캐릭터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9E2570-257C-C958-FBAC-A7D4395DB37D}"/>
              </a:ext>
            </a:extLst>
          </p:cNvPr>
          <p:cNvCxnSpPr/>
          <p:nvPr/>
        </p:nvCxnSpPr>
        <p:spPr>
          <a:xfrm>
            <a:off x="3747188" y="2436107"/>
            <a:ext cx="0" cy="289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6C24A38-6371-55F4-8B46-2AB45147CDA3}"/>
              </a:ext>
            </a:extLst>
          </p:cNvPr>
          <p:cNvCxnSpPr/>
          <p:nvPr/>
        </p:nvCxnSpPr>
        <p:spPr>
          <a:xfrm>
            <a:off x="7652438" y="2436107"/>
            <a:ext cx="0" cy="289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07CED8-FC1D-B4EC-A615-D16E8851F0C3}"/>
              </a:ext>
            </a:extLst>
          </p:cNvPr>
          <p:cNvSpPr txBox="1"/>
          <p:nvPr/>
        </p:nvSpPr>
        <p:spPr>
          <a:xfrm>
            <a:off x="4502908" y="1937002"/>
            <a:ext cx="2466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내 컬러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341A41-DF09-21E4-8B83-85AED700E40D}"/>
              </a:ext>
            </a:extLst>
          </p:cNvPr>
          <p:cNvSpPr txBox="1"/>
          <p:nvPr/>
        </p:nvSpPr>
        <p:spPr>
          <a:xfrm>
            <a:off x="8427208" y="1905371"/>
            <a:ext cx="2466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내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FBDCE63-7E87-A8EC-FAA5-2D0263FE4D30}"/>
              </a:ext>
            </a:extLst>
          </p:cNvPr>
          <p:cNvGrpSpPr/>
          <p:nvPr/>
        </p:nvGrpSpPr>
        <p:grpSpPr>
          <a:xfrm>
            <a:off x="4121872" y="3382591"/>
            <a:ext cx="3081019" cy="996900"/>
            <a:chOff x="4566929" y="3382591"/>
            <a:chExt cx="2363254" cy="79007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67A67D-F149-5556-CA0E-890D1C36F54B}"/>
                </a:ext>
              </a:extLst>
            </p:cNvPr>
            <p:cNvSpPr/>
            <p:nvPr/>
          </p:nvSpPr>
          <p:spPr>
            <a:xfrm>
              <a:off x="4566929" y="3382591"/>
              <a:ext cx="593551" cy="790073"/>
            </a:xfrm>
            <a:prstGeom prst="rect">
              <a:avLst/>
            </a:prstGeom>
            <a:solidFill>
              <a:srgbClr val="1746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3E5AF30-F7BD-FFD4-4E59-1F3EFBE89B12}"/>
                </a:ext>
              </a:extLst>
            </p:cNvPr>
            <p:cNvSpPr/>
            <p:nvPr/>
          </p:nvSpPr>
          <p:spPr>
            <a:xfrm>
              <a:off x="5170502" y="3382592"/>
              <a:ext cx="593551" cy="790073"/>
            </a:xfrm>
            <a:prstGeom prst="rect">
              <a:avLst/>
            </a:prstGeom>
            <a:solidFill>
              <a:srgbClr val="F4D5A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78A0A63-0ED0-A95E-4A9D-8168E7C1F52F}"/>
                </a:ext>
              </a:extLst>
            </p:cNvPr>
            <p:cNvSpPr/>
            <p:nvPr/>
          </p:nvSpPr>
          <p:spPr>
            <a:xfrm>
              <a:off x="5764053" y="3382592"/>
              <a:ext cx="593551" cy="790073"/>
            </a:xfrm>
            <a:prstGeom prst="rect">
              <a:avLst/>
            </a:prstGeom>
            <a:solidFill>
              <a:srgbClr val="30201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D62FA-E226-CB3B-9293-32820EF1585F}"/>
                </a:ext>
              </a:extLst>
            </p:cNvPr>
            <p:cNvSpPr/>
            <p:nvPr/>
          </p:nvSpPr>
          <p:spPr>
            <a:xfrm>
              <a:off x="6336632" y="3382591"/>
              <a:ext cx="593551" cy="790073"/>
            </a:xfrm>
            <a:prstGeom prst="rect">
              <a:avLst/>
            </a:prstGeom>
            <a:solidFill>
              <a:srgbClr val="C64B2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 descr="전장식 대포 - 나무위키">
            <a:extLst>
              <a:ext uri="{FF2B5EF4-FFF2-40B4-BE49-F238E27FC236}">
                <a16:creationId xmlns:a16="http://schemas.microsoft.com/office/drawing/2014/main" id="{0FB5127C-85DD-D7A4-0E01-0A7B47477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61" t="23811" r="13629" b="13484"/>
          <a:stretch>
            <a:fillRect/>
          </a:stretch>
        </p:blipFill>
        <p:spPr>
          <a:xfrm>
            <a:off x="8625020" y="2663495"/>
            <a:ext cx="2269163" cy="1217545"/>
          </a:xfrm>
          <a:prstGeom prst="rect">
            <a:avLst/>
          </a:prstGeom>
        </p:spPr>
      </p:pic>
      <p:pic>
        <p:nvPicPr>
          <p:cNvPr id="24" name="그림 23" descr="해적선 로열티 무료 사진, 그림, 이미지 그리고 스톡포토그래피. Image 30634503">
            <a:extLst>
              <a:ext uri="{FF2B5EF4-FFF2-40B4-BE49-F238E27FC236}">
                <a16:creationId xmlns:a16="http://schemas.microsoft.com/office/drawing/2014/main" id="{9BD4F4F8-A8C1-BC9E-A282-433B831F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121" y="4111542"/>
            <a:ext cx="1647574" cy="1647574"/>
          </a:xfrm>
          <a:prstGeom prst="rect">
            <a:avLst/>
          </a:prstGeom>
        </p:spPr>
      </p:pic>
      <p:pic>
        <p:nvPicPr>
          <p:cNvPr id="25" name="그림 24" descr="해상강도 - 위키백과, 우리 모두의 백과사전">
            <a:extLst>
              <a:ext uri="{FF2B5EF4-FFF2-40B4-BE49-F238E27FC236}">
                <a16:creationId xmlns:a16="http://schemas.microsoft.com/office/drawing/2014/main" id="{41DED9EE-E31B-01FE-2F84-4D22B3705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472" y="4379490"/>
            <a:ext cx="1550216" cy="103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7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185</Words>
  <Application>Microsoft Office PowerPoint</Application>
  <PresentationFormat>와이드스크린</PresentationFormat>
  <Paragraphs>69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Noto Sans KR</vt:lpstr>
      <vt:lpstr>Noto Sans KR Black</vt:lpstr>
      <vt:lpstr>맑은 고딕</vt:lpstr>
      <vt:lpstr>Aptos Serif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2026-10-28T02:35:25Z</dcterms:created>
  <dcterms:modified xsi:type="dcterms:W3CDTF">2026-10-29T01:23:49Z</dcterms:modified>
</cp:coreProperties>
</file>