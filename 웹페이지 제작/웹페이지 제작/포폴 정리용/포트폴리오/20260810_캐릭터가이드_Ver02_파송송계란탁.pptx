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3" r:id="rId3"/>
    <p:sldId id="264" r:id="rId4"/>
    <p:sldId id="266" r:id="rId5"/>
    <p:sldId id="267" r:id="rId6"/>
    <p:sldId id="268" r:id="rId7"/>
    <p:sldId id="269" r:id="rId8"/>
    <p:sldId id="270" r:id="rId9"/>
    <p:sldId id="271" r:id="rId10"/>
    <p:sldId id="272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820F"/>
    <a:srgbClr val="FAEBAC"/>
    <a:srgbClr val="ECFEA8"/>
    <a:srgbClr val="3D3D3D"/>
    <a:srgbClr val="232323"/>
    <a:srgbClr val="9181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-30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569DA-3B00-40B1-8C94-EC3ACF2114F8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9B549-66CE-458A-8F38-08C32E015C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796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848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0BD38-8BCB-8E75-8316-2B74F9EEB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F94498-ADEB-E587-18D3-DF904BB0D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00E19E-1B8D-61CE-6545-D152B4642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940C0D-CB2A-CE0F-E209-15B635AE0D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930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41F3-EA30-EA64-5DED-9D123FE74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4CB7E0-0BFE-CCFE-C308-2896FD506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F31D18-EF43-A9C7-9E0F-883305D5B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1BEFE5-A720-C90D-1F2A-090F9A91A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5886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67E63-C7DA-B0D2-21C0-1187F2D10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9E2913-1992-93D8-5C2F-9EF025029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099F14-8E92-85BA-79C9-D0BECFD8C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287F55-6E5B-5790-6F8B-FB1122658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221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66461-AD4C-B18D-7E44-64F73B73A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962F1A-C442-40D7-69E2-AE903A1B57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FB1556-CA97-1A89-7960-F04D33D97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735FF8-FF8A-1BB8-C7FE-03802D469D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19352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32902-3E26-EB2B-3FD0-3C4021345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9DFC10-7F8C-7EF3-0968-57268406A9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F79FC0-52B4-8544-C75D-6016AB1DF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150AF7-E338-C918-3BA8-AC31C6DDCB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86291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A5568-7905-243B-B9FA-BC7E008E9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147E8D-4A5F-20E9-91FD-479AF381F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E1EC44-618C-4012-2881-C58045C93C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02F50B-123B-553B-3B2B-DC2A554716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7832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55BFD-1B9C-9463-C8C0-437B6A7B0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37EECE-792B-F592-3627-A8E9B616AF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B5CF83-2EF6-25BD-FD5A-584D8501F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E0E57E-2DFD-80E6-66B5-D4DB2DF23B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06269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96326-0C7B-FEBC-7A20-8A564E056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980850-03E8-2DBD-8CCA-73D207A5E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E358DE-2C82-854A-2B12-9649A4B43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0BE789-6F3D-DA96-3768-683987FD8E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667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F7831-AE2D-DD19-8253-04AAF440C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EA800B-7A53-2DD4-A4D0-DE5576FD6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1E5724-3BF6-5B5C-90E1-55B8BBA5E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02B287-E2BB-DEA8-C991-FC23E7862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799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B32820-733B-207F-A6DE-37F9D056F1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19287F-9ABD-2880-1AEC-38146D627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254FD3-9DF5-CDFA-9E53-B8A7E11B7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0C691E-D80C-A2DB-D27C-F0F695096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E1386C-3745-EF7E-93CF-F5582F16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048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42F53B-2401-653D-93FD-A23C9AF4F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4724E6-614B-D7FA-5DC3-8D897890E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648EA8-5C26-9FE7-4D66-DED52D68F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5B3851-17BF-D999-4E32-DC82A822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1EE5C6-7693-A3C9-97AC-32098157E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701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B2B294-DE91-2D82-13CC-9BDA21E54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D06694-615F-8CF5-EB17-FCF4243D8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485732-FE34-EA60-79B8-325B4AE92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58FC35-EE66-90A5-4CC2-D993CD50E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E9B6D4-CDF7-DA49-196F-148F1B10D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1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C163F9-F19D-63AB-6797-51533FEF1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BD4F1F-83C6-BCAA-2872-057C348023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6F6B9A-DC26-89F9-9133-D86908EBD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1DE685-7623-55E0-A776-5E7D537FD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4641BA-A8D8-F92D-9BCF-3DA197900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E8337E-8426-363C-D50D-30394494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31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073311-88AE-291D-F521-D4D1672F6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31E7C0-32F9-2B20-C90D-D87260247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4A6B53-37AE-CD42-8F21-62EEF942B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FA8692-EB82-C576-B4D7-86419FCDC3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4B2E105-4DE6-E126-30C1-EFEC6C50AA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8F91248-7E4C-81A9-22D0-E326429EA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8CAE034-F322-5690-DC3D-2DE0B210E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66B860-DF12-4AF3-521F-B07D7772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61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4D72E1-A4F0-DE9C-9F77-111987D0C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E73ACFC-5E41-2162-877E-3A18248BB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817BDA1-CF44-2BD8-AF24-A38117C14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8CB21A-6980-9DD2-A530-786B8AF0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858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44BB32-CC72-8140-AE57-355917018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7DEB00C-F0A4-5E1C-34A9-18C9A7C4D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2B051E-BB9F-8493-BBD2-AF2774E1F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448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FBBDA2-A989-1D69-F7DA-BA5F7A1B0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6708E-2896-1898-2EC6-7A587E917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2A1D1D-4A9B-C98E-BD4E-84FE95D88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A0233B-6312-119A-A5A8-5BC43458C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0C1805-423D-8458-63CB-CB0D82C14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5DF691-8EB5-66D3-577F-4D12681EB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577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CC562B-221E-C57B-337D-CC0FAF38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728703-100D-CC92-94FE-35D89D94B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EA9FE9-18BF-F994-ADF8-AC763D4A5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D918EB-B393-DC79-0E9E-F787EECB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4A8F70-8162-0203-2E8C-1A0671AD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D50B90-DFFB-513D-5293-D1B793414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566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7F9D3E-0802-CE3F-92DD-14FAFBF15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829531-EB31-CC69-1225-A4EB9A850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68F0A-7ACE-C552-82C0-518FEFB0F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EA87F0-4C36-29C6-952B-D70B23ECB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DDF44C-4998-DA54-B21F-9ED07B96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164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6312C1-3868-945A-11BB-766F8935F8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AFF5EA-6B11-15C1-D601-3303C0B35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EA6768-2A81-7E03-A0BB-1AB625754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DDAA29-09D0-AAF6-1979-33E53F84F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14D843-12AF-1E50-EDCC-8B6BF53B3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64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0">
              <a:schemeClr val="tx1"/>
            </a:gs>
            <a:gs pos="100000">
              <a:schemeClr val="accent1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08C471B-ED35-3759-AC3D-C615889D9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14620F-C139-47D4-8124-C0D45637C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632F4-9189-7BA0-E51B-C65D81C26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D46754-FECE-4AFD-BD7C-4332CC7DCDCE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3AA7DE-A4C9-A115-CC2F-8FF35157B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1B5E12-F906-4723-42E6-A653E7477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408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0">
              <a:schemeClr val="tx1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11EC471-29AB-B731-6E43-3CFC7833B0C0}"/>
              </a:ext>
            </a:extLst>
          </p:cNvPr>
          <p:cNvCxnSpPr>
            <a:cxnSpLocks/>
          </p:cNvCxnSpPr>
          <p:nvPr/>
        </p:nvCxnSpPr>
        <p:spPr>
          <a:xfrm>
            <a:off x="2914650" y="2419350"/>
            <a:ext cx="6362700" cy="0"/>
          </a:xfrm>
          <a:prstGeom prst="line">
            <a:avLst/>
          </a:prstGeom>
          <a:ln w="254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EB96F19-D9E3-CBE7-295C-ADC8EE8A2ACC}"/>
              </a:ext>
            </a:extLst>
          </p:cNvPr>
          <p:cNvCxnSpPr>
            <a:cxnSpLocks/>
          </p:cNvCxnSpPr>
          <p:nvPr/>
        </p:nvCxnSpPr>
        <p:spPr>
          <a:xfrm>
            <a:off x="3529012" y="4171950"/>
            <a:ext cx="5133975" cy="0"/>
          </a:xfrm>
          <a:prstGeom prst="line">
            <a:avLst/>
          </a:prstGeom>
          <a:ln w="254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A6FB40F-6B7D-6066-C5AD-CF8262EAD0B6}"/>
              </a:ext>
            </a:extLst>
          </p:cNvPr>
          <p:cNvSpPr/>
          <p:nvPr/>
        </p:nvSpPr>
        <p:spPr>
          <a:xfrm>
            <a:off x="0" y="26788"/>
            <a:ext cx="12192000" cy="6851904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E3064F73-26E0-9A1E-7E40-528EC7CFE690}"/>
              </a:ext>
            </a:extLst>
          </p:cNvPr>
          <p:cNvSpPr txBox="1">
            <a:spLocks/>
          </p:cNvSpPr>
          <p:nvPr/>
        </p:nvSpPr>
        <p:spPr>
          <a:xfrm>
            <a:off x="1524000" y="2884892"/>
            <a:ext cx="9144000" cy="8048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4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캐릭터 가이드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FC0D6BA-AF72-D247-299C-27E8DE551646}"/>
              </a:ext>
            </a:extLst>
          </p:cNvPr>
          <p:cNvCxnSpPr>
            <a:cxnSpLocks/>
          </p:cNvCxnSpPr>
          <p:nvPr/>
        </p:nvCxnSpPr>
        <p:spPr>
          <a:xfrm>
            <a:off x="2914650" y="2416302"/>
            <a:ext cx="6362700" cy="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9374A27-07E7-5E99-5870-BC72B68A5278}"/>
              </a:ext>
            </a:extLst>
          </p:cNvPr>
          <p:cNvCxnSpPr>
            <a:cxnSpLocks/>
          </p:cNvCxnSpPr>
          <p:nvPr/>
        </p:nvCxnSpPr>
        <p:spPr>
          <a:xfrm>
            <a:off x="3529012" y="4168902"/>
            <a:ext cx="5133975" cy="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부제목 2">
            <a:extLst>
              <a:ext uri="{FF2B5EF4-FFF2-40B4-BE49-F238E27FC236}">
                <a16:creationId xmlns:a16="http://schemas.microsoft.com/office/drawing/2014/main" id="{8B03D236-553D-0D31-8CF2-8577EAE12AAD}"/>
              </a:ext>
            </a:extLst>
          </p:cNvPr>
          <p:cNvSpPr txBox="1">
            <a:spLocks/>
          </p:cNvSpPr>
          <p:nvPr/>
        </p:nvSpPr>
        <p:spPr>
          <a:xfrm>
            <a:off x="7159391" y="5771119"/>
            <a:ext cx="3433913" cy="1247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작성 날짜</a:t>
            </a:r>
            <a:br>
              <a:rPr lang="en-US" altLang="ko-KR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40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팀명</a:t>
            </a:r>
            <a:endParaRPr lang="ko-KR" altLang="en-US" sz="1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DD1023EA-F708-AE8C-1DEB-C76BE1234D9D}"/>
              </a:ext>
            </a:extLst>
          </p:cNvPr>
          <p:cNvSpPr txBox="1">
            <a:spLocks/>
          </p:cNvSpPr>
          <p:nvPr/>
        </p:nvSpPr>
        <p:spPr>
          <a:xfrm>
            <a:off x="10593304" y="5771119"/>
            <a:ext cx="3433913" cy="1060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2026-08-10</a:t>
            </a:r>
            <a:br>
              <a:rPr lang="en-US" altLang="ko-KR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40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파송송계란탁</a:t>
            </a:r>
            <a:endParaRPr lang="ko-KR" altLang="en-US" sz="1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2258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DBE07-0098-1A2B-4723-12FB391F4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B00F01E-2B75-7143-F302-C0FF429274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E017A63-B1CB-685D-51A7-AB2FD31BB9BD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0E8D3DC3-E0ED-9306-1614-04823FE28359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950224A-520B-647A-3C98-F99010FDE8DD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393610AD-4341-ABB1-AA9F-A4CD0C025DEA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제목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0A4DC5-C211-F967-85CA-BD636966C22A}"/>
              </a:ext>
            </a:extLst>
          </p:cNvPr>
          <p:cNvSpPr/>
          <p:nvPr/>
        </p:nvSpPr>
        <p:spPr>
          <a:xfrm>
            <a:off x="1404937" y="1676309"/>
            <a:ext cx="5403273" cy="4294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lvl="0" indent="-342900">
              <a:lnSpc>
                <a:spcPct val="150000"/>
              </a:lnSpc>
              <a:buAutoNum type="arabicPeriod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캐릭터의 역할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42900" lvl="0" indent="-342900">
              <a:lnSpc>
                <a:spcPct val="150000"/>
              </a:lnSpc>
              <a:buAutoNum type="arabicPeriod"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42900" lvl="0" indent="-342900">
              <a:lnSpc>
                <a:spcPct val="150000"/>
              </a:lnSpc>
              <a:buAutoNum type="arabicPeriod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필수 포함 요소</a:t>
            </a:r>
          </a:p>
          <a:p>
            <a:pPr marL="1314450" lvl="2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초기 능력치 / 설계 역할</a:t>
            </a:r>
          </a:p>
          <a:p>
            <a:pPr marL="1314450" lvl="2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패시브 스킬 3종</a:t>
            </a:r>
          </a:p>
          <a:p>
            <a:pPr marL="1314450" lvl="2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- 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기본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내러티브</a:t>
            </a:r>
            <a:endParaRPr lang="ko-KR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14450" lvl="2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외형(일러스트 /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인게임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모션)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42900" lvl="0" indent="-342900">
              <a:lnSpc>
                <a:spcPct val="150000"/>
              </a:lnSpc>
              <a:buAutoNum type="arabicPeriod"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침식 수치와 정신 이상 시스템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8228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78DCC-58F5-21FB-9519-B6A65E90B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EE7A017-72C2-ED5A-AA6A-3F34866DE0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146FCAE-B801-C7F3-2BBB-228118D43A7F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BAFC51B0-CCF4-E93E-441A-BB372F050E56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A7C5653-07F3-2C37-6889-8D03260BE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970" y="502398"/>
            <a:ext cx="2590800" cy="671513"/>
          </a:xfrm>
        </p:spPr>
        <p:txBody>
          <a:bodyPr>
            <a:norm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로직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1B7F75B-C9DF-F728-7D56-425811383757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6CE89CF5-2356-35D1-1954-EC752A907C87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캐릭터의 역할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61805AB-26BC-BB57-5E3C-D59A1A4EDC93}"/>
              </a:ext>
            </a:extLst>
          </p:cNvPr>
          <p:cNvSpPr/>
          <p:nvPr/>
        </p:nvSpPr>
        <p:spPr>
          <a:xfrm>
            <a:off x="2562008" y="431005"/>
            <a:ext cx="7067983" cy="4294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유저의 플레이를 대리 수행 하는 존재</a:t>
            </a:r>
          </a:p>
          <a:p>
            <a:pPr lvl="0" algn="ctr">
              <a:lnSpc>
                <a:spcPct val="150000"/>
              </a:lnSpc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다양한 전술의 구현에 맞추어 자동으로 행동을 결정</a:t>
            </a:r>
          </a:p>
          <a:p>
            <a:pPr lvl="0" algn="ctr">
              <a:lnSpc>
                <a:spcPct val="150000"/>
              </a:lnSpc>
            </a:pP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01698BE-1884-B6EE-658E-D1183B20A1F7}"/>
              </a:ext>
            </a:extLst>
          </p:cNvPr>
          <p:cNvSpPr/>
          <p:nvPr/>
        </p:nvSpPr>
        <p:spPr>
          <a:xfrm>
            <a:off x="7497033" y="2094722"/>
            <a:ext cx="4837984" cy="39530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대기 시간</a:t>
            </a:r>
            <a:endParaRPr lang="ko-KR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lvl="0" indent="-285750">
              <a:lnSpc>
                <a:spcPct val="150000"/>
              </a:lnSpc>
              <a:buFont typeface="+mj-lt"/>
              <a:buAutoNum type="romanUcPeriod"/>
            </a:pP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중립 몬스터 사냥 </a:t>
            </a:r>
          </a:p>
          <a:p>
            <a:pPr marL="285750" lvl="0" indent="-285750">
              <a:lnSpc>
                <a:spcPct val="150000"/>
              </a:lnSpc>
              <a:buFont typeface="+mj-lt"/>
              <a:buAutoNum type="romanUcPeriod"/>
            </a:pP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탐색 </a:t>
            </a:r>
          </a:p>
          <a:p>
            <a:pPr marL="285750" lvl="0" indent="-285750">
              <a:lnSpc>
                <a:spcPct val="150000"/>
              </a:lnSpc>
              <a:buFont typeface="+mj-lt"/>
              <a:buAutoNum type="romanUcPeriod"/>
            </a:pP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건설 </a:t>
            </a:r>
          </a:p>
          <a:p>
            <a:pPr lvl="0">
              <a:lnSpc>
                <a:spcPct val="150000"/>
              </a:lnSpc>
            </a:pPr>
            <a:endParaRPr lang="ko-KR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진군 중</a:t>
            </a:r>
            <a:endParaRPr lang="ko-KR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lvl="0" indent="-285750">
              <a:lnSpc>
                <a:spcPct val="150000"/>
              </a:lnSpc>
              <a:buFont typeface="+mj-lt"/>
              <a:buAutoNum type="romanUcPeriod"/>
            </a:pP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집결지로 이동 </a:t>
            </a:r>
          </a:p>
          <a:p>
            <a:pPr marL="285750" lvl="0" indent="-285750">
              <a:lnSpc>
                <a:spcPct val="150000"/>
              </a:lnSpc>
              <a:buFont typeface="+mj-lt"/>
              <a:buAutoNum type="romanUcPeriod"/>
            </a:pP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집결지 내 중립 몬스터 공격 </a:t>
            </a:r>
          </a:p>
          <a:p>
            <a:pPr marL="285750" lvl="0" indent="-285750">
              <a:lnSpc>
                <a:spcPct val="150000"/>
              </a:lnSpc>
              <a:buFont typeface="+mj-lt"/>
              <a:buAutoNum type="romanUcPeriod"/>
            </a:pP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집결지 내 수비 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웨이브 타이머 작동 / 광폭화 상태</a:t>
            </a:r>
            <a:endParaRPr lang="ko-KR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>
              <a:lnSpc>
                <a:spcPct val="150000"/>
              </a:lnSpc>
            </a:pP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웨이브 몬스터 공격 </a:t>
            </a:r>
          </a:p>
          <a:p>
            <a:pPr algn="ctr"/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단 전술에 우선 행동 지침이 있을 경우 해당 행동 우선 수행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C29B373-E305-E419-392E-8DD33CDCA4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8" y="2183585"/>
            <a:ext cx="5663044" cy="377536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4013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EB076-9DC9-F9DF-560B-BD527504E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291CA44-276E-7885-5CC9-8F1403305D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2FB3C14-074C-EC12-A3EB-1B9764590D52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4CA15E3B-8075-C9E6-EFAD-DB480FD7B38F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CD655B6-0200-1949-2662-37C004452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970" y="502398"/>
            <a:ext cx="2590800" cy="671513"/>
          </a:xfrm>
        </p:spPr>
        <p:txBody>
          <a:bodyPr>
            <a:norm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전투 역할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66F7490-7D65-6C94-EB20-9B156FE59443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FA699025-840F-A119-EAAE-E8DA9C1F4B83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캐릭터 역할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97B1012-3543-56C9-1214-34EAAD170567}"/>
              </a:ext>
            </a:extLst>
          </p:cNvPr>
          <p:cNvGrpSpPr/>
          <p:nvPr/>
        </p:nvGrpSpPr>
        <p:grpSpPr>
          <a:xfrm>
            <a:off x="6334815" y="2183585"/>
            <a:ext cx="5269584" cy="2106552"/>
            <a:chOff x="4179899" y="1413261"/>
            <a:chExt cx="5269584" cy="2106552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EA205BD-8599-537A-01D8-EBF7E055795B}"/>
                </a:ext>
              </a:extLst>
            </p:cNvPr>
            <p:cNvSpPr/>
            <p:nvPr/>
          </p:nvSpPr>
          <p:spPr>
            <a:xfrm>
              <a:off x="5329760" y="1413262"/>
              <a:ext cx="4119723" cy="21065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높은 체력과 방어력을 바탕으로 전방에서 아군을 보호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전방에서 높은 근거리 공격력을 바탕으로 전투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후방에서 높은 원거리 공격력을 바탕으로 전투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중 / 후방에서 마법을 이용해 다수의 적을 공격 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중 / 후방에서 아군을 지원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EBEF6E9-6B51-15EC-B188-7B5F3E458AD6}"/>
                </a:ext>
              </a:extLst>
            </p:cNvPr>
            <p:cNvSpPr/>
            <p:nvPr/>
          </p:nvSpPr>
          <p:spPr>
            <a:xfrm>
              <a:off x="4179899" y="1413261"/>
              <a:ext cx="1149859" cy="21065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>
                <a:lnSpc>
                  <a:spcPct val="150000"/>
                </a:lnSpc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탱커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근거리 딜러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원거리 딜러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메이지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힐러</a:t>
              </a:r>
              <a:endPara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6B4D2BDB-E7BF-2E1D-2C64-96F3E0916F83}"/>
                </a:ext>
              </a:extLst>
            </p:cNvPr>
            <p:cNvCxnSpPr>
              <a:cxnSpLocks/>
            </p:cNvCxnSpPr>
            <p:nvPr/>
          </p:nvCxnSpPr>
          <p:spPr>
            <a:xfrm>
              <a:off x="5329759" y="1413261"/>
              <a:ext cx="0" cy="1512115"/>
            </a:xfrm>
            <a:prstGeom prst="line">
              <a:avLst/>
            </a:prstGeom>
            <a:ln>
              <a:solidFill>
                <a:srgbClr val="95820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FA17D1A2-6BEC-4742-EEE1-C44CF66B98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7" y="2183585"/>
            <a:ext cx="5014718" cy="334314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7095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DAC36-EE54-45A7-DB20-9D1D967BD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5E2CB27-25FC-DF9B-5E1E-DD4BFCA77E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D6BF344-CE17-935B-F40F-1F06D98C2B59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EBB345CF-5E42-9070-E824-A03E9E4B99D4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5F8C47F-2731-A034-A8E7-CB9778202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970" y="502398"/>
            <a:ext cx="2590800" cy="671513"/>
          </a:xfrm>
        </p:spPr>
        <p:txBody>
          <a:bodyPr>
            <a:norm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설계 역할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BC7E94A-5608-4293-6574-FD1C088C08A4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4373F58B-9DF5-C619-C878-ABD07783C3B2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초기 능력치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5F6C28D-682F-7D38-1D36-12F2E33EA1EF}"/>
              </a:ext>
            </a:extLst>
          </p:cNvPr>
          <p:cNvSpPr/>
          <p:nvPr/>
        </p:nvSpPr>
        <p:spPr>
          <a:xfrm>
            <a:off x="2508314" y="1102518"/>
            <a:ext cx="7175371" cy="9911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캐릭터가 생성될 당시에 가질 캐릭터의 능력치 설정 필요</a:t>
            </a:r>
          </a:p>
          <a:p>
            <a:pPr lvl="0" algn="ctr">
              <a:lnSpc>
                <a:spcPct val="150000"/>
              </a:lnSpc>
            </a:pP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해당 능력치를 바탕으로 위의 전투 역할을 임의로 설정하고 이에 맞추어 외형 / 패시브 / </a:t>
            </a:r>
            <a:r>
              <a:rPr lang="ko-KR" altLang="ko-KR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내러티브를</a:t>
            </a: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설계</a:t>
            </a:r>
          </a:p>
          <a:p>
            <a:pPr lvl="0" algn="ctr">
              <a:lnSpc>
                <a:spcPct val="150000"/>
              </a:lnSpc>
            </a:pP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특히 저항력 등의 고정되는 캐릭터 고유의 능력치는 더욱 신중하게 결정</a:t>
            </a:r>
          </a:p>
          <a:p>
            <a:pPr lvl="0" algn="ctr">
              <a:lnSpc>
                <a:spcPct val="150000"/>
              </a:lnSpc>
            </a:pP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캐릭터의 설계역할과 다르게 성장할 가능성도 존재</a:t>
            </a:r>
          </a:p>
          <a:p>
            <a:pPr algn="ctr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40B65F9-0EA9-39FD-110D-F9D9D15E80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4791" y="2693760"/>
            <a:ext cx="5022415" cy="334827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4349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6FF1F-2792-80E8-DFEF-A8B70BDAE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1760A84F-4628-481C-2469-93F79C47FC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C9DAD1B-8C20-A2AD-3186-7507082D5A0C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43BC5EC9-F3E8-3B6D-EEAA-9C6BC08FCD00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AB67293-4BDD-7295-994C-70426B156451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E19AC48A-F9E0-929E-A050-2846065776BB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패시브 스킬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8A5A85-1F16-D35F-94CB-948AE9A97F71}"/>
              </a:ext>
            </a:extLst>
          </p:cNvPr>
          <p:cNvSpPr/>
          <p:nvPr/>
        </p:nvSpPr>
        <p:spPr>
          <a:xfrm>
            <a:off x="2508314" y="1102518"/>
            <a:ext cx="7175371" cy="9911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각 강화 단계에 맞추어 해금되는 3종의 패시브 스킬 설계(1종은 생성 시 즉시 해금)</a:t>
            </a:r>
          </a:p>
          <a:p>
            <a:pPr lvl="0" algn="ctr">
              <a:lnSpc>
                <a:spcPct val="150000"/>
              </a:lnSpc>
            </a:pP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캐릭터의 개성을 보여주어야 함으로 캐릭터의 기대되는 전투 역할과 </a:t>
            </a:r>
            <a:r>
              <a:rPr lang="ko-KR" altLang="ko-KR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내러티브에</a:t>
            </a: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맞추어 설계 필요</a:t>
            </a:r>
          </a:p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77B3632-79A7-5E42-F533-F73E8745C8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4792" y="2801682"/>
            <a:ext cx="5022414" cy="334827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6707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9EDBE-09CB-2BED-F232-4B037C8CC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CD6E549-C1ED-B829-06AA-AE21C8828F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B2D8D6-76A8-5931-1A7B-48C37D001287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E8A074A8-BF56-D2EC-B7F1-6C3BBE0239BA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2E908AE-40ED-F70D-831A-CF913E10D322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93B7B84A-DCAC-6DE8-519E-C9CC5210BE14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내러티브</a:t>
            </a:r>
            <a:endParaRPr lang="ko-KR" altLang="en-US" sz="1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D63AE0C-C327-1B54-F98A-16353DDBDAC2}"/>
              </a:ext>
            </a:extLst>
          </p:cNvPr>
          <p:cNvSpPr/>
          <p:nvPr/>
        </p:nvSpPr>
        <p:spPr>
          <a:xfrm>
            <a:off x="2508314" y="1102518"/>
            <a:ext cx="7175371" cy="9911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외부적으론 천사지만 백혈구라는 컨셉이 들어날 수 있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도록</a:t>
            </a:r>
            <a:b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예시: 지능이 높은 마법형 캐릭터 (</a:t>
            </a:r>
            <a:r>
              <a:rPr lang="ko-KR" altLang="ko-KR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T세포</a:t>
            </a: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lvl="0" algn="ctr">
              <a:lnSpc>
                <a:spcPct val="150000"/>
              </a:lnSpc>
            </a:pP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인체의 상실은 필수 요소는 아니지만 고려 가능(패시브와 연계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권장</a:t>
            </a: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lvl="0" algn="ctr">
              <a:lnSpc>
                <a:spcPct val="150000"/>
              </a:lnSpc>
            </a:pP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아주 상세하게 </a:t>
            </a:r>
            <a:r>
              <a:rPr lang="ko-KR" altLang="ko-KR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고도화할</a:t>
            </a: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필요는 없지만 대충 어떤 캐릭터인지만 의도와 함께 설명</a:t>
            </a:r>
          </a:p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7DAD14-0A80-1E93-33D6-D7BD9F3C76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384" y="2801682"/>
            <a:ext cx="5022413" cy="334827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8129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9DC38-08A7-6786-5F92-0D1A72A75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6C99A9B5-981A-4003-C6B7-EAED0D3B4F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C825D5D-FB0C-BC07-D433-305AEB4E16EE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C41A0B4A-C24D-618D-7EBF-96EF2432F501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EC2F163-C89E-DBBB-BF01-B1627D1579E9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BBD4DD10-6F85-8E8C-A280-0F927961B5E9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외형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9D91552-948F-C58C-DFEC-762AC1FC97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138" y="2321113"/>
            <a:ext cx="4205722" cy="336577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4F4ADD7B-977B-8747-412E-BB3684D47EEC}"/>
              </a:ext>
            </a:extLst>
          </p:cNvPr>
          <p:cNvSpPr/>
          <p:nvPr/>
        </p:nvSpPr>
        <p:spPr>
          <a:xfrm>
            <a:off x="2508314" y="1102517"/>
            <a:ext cx="7175371" cy="1372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일러스트는 해당 캐릭터의 컨셉과 설정에 맞는</a:t>
            </a:r>
            <a:b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색감과 복장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무기를 설정</a:t>
            </a:r>
          </a:p>
        </p:txBody>
      </p:sp>
    </p:spTree>
    <p:extLst>
      <p:ext uri="{BB962C8B-B14F-4D97-AF65-F5344CB8AC3E}">
        <p14:creationId xmlns:p14="http://schemas.microsoft.com/office/powerpoint/2010/main" val="245185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33905-532D-99AB-2099-E5DEC98D4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6AB7457-8E50-B0F4-A64E-FA5702A483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7022453-B162-1DB5-FA24-DB3E06D54FE0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5F68B428-96DE-A449-2F62-F51A3D1FAEFE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BE0908D-48C1-4A2E-DB1F-ECFA9D5D7E6E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E551E5F7-C30B-C3B0-118F-1906EA7045AD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외형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0DD5FE3-1319-8705-A708-FB90A9491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131"/>
          <a:stretch>
            <a:fillRect/>
          </a:stretch>
        </p:blipFill>
        <p:spPr>
          <a:xfrm>
            <a:off x="3175359" y="1973554"/>
            <a:ext cx="2786568" cy="315569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D2026F2-2844-B255-E217-F5F2B03B2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29" r="544"/>
          <a:stretch>
            <a:fillRect/>
          </a:stretch>
        </p:blipFill>
        <p:spPr>
          <a:xfrm>
            <a:off x="5961927" y="1973554"/>
            <a:ext cx="1918350" cy="315569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B3218A2E-8362-B42D-A4E1-6E1A8E6AEE3D}"/>
              </a:ext>
            </a:extLst>
          </p:cNvPr>
          <p:cNvSpPr/>
          <p:nvPr/>
        </p:nvSpPr>
        <p:spPr>
          <a:xfrm>
            <a:off x="2508314" y="1102518"/>
            <a:ext cx="7175371" cy="6715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인게임에서 사용할 이미지는 실제 </a:t>
            </a:r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에셋으로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사용할 수 있도록 다음과 같은 형태로 생성</a:t>
            </a:r>
          </a:p>
        </p:txBody>
      </p:sp>
    </p:spTree>
    <p:extLst>
      <p:ext uri="{BB962C8B-B14F-4D97-AF65-F5344CB8AC3E}">
        <p14:creationId xmlns:p14="http://schemas.microsoft.com/office/powerpoint/2010/main" val="2620023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C074D-5EB8-14A1-1735-CB35185A6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8513736-9865-C360-2DF3-F75339871F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ABE775F-FBDF-A787-FBFA-A525E34D4200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1A1945F7-617B-E22C-0F90-F29B2F413FD9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3455087-42AD-90AC-4240-3CDBDEDC4FCC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B3B8C38F-6B4C-B0BE-DC31-EBF8889FE2DC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침식 수치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920E2A-72FF-DC06-624D-D3B6A9B9FDBC}"/>
              </a:ext>
            </a:extLst>
          </p:cNvPr>
          <p:cNvSpPr/>
          <p:nvPr/>
        </p:nvSpPr>
        <p:spPr>
          <a:xfrm>
            <a:off x="2295525" y="1173911"/>
            <a:ext cx="7175371" cy="15786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algn="ctr">
              <a:lnSpc>
                <a:spcPct val="150000"/>
              </a:lnSpc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웨이브 몬스터와 전투 시 침식수치 최대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100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까지 상승 </a:t>
            </a:r>
            <a:b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저항력에 비례해 상승 속도와 회복속도 증가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감소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algn="ctr">
              <a:lnSpc>
                <a:spcPct val="150000"/>
              </a:lnSpc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침식 수치가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100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 도달할 경우 특수한 정신 이상 상태 발동</a:t>
            </a:r>
            <a:b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b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레퍼런스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다키스트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던전 스트레스 시스템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42BB0C4-9C35-6E38-9E19-644A07D38C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135" y="2916601"/>
            <a:ext cx="5339729" cy="356561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96782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1751</TotalTime>
  <Words>342</Words>
  <Application>Microsoft Office PowerPoint</Application>
  <PresentationFormat>와이드스크린</PresentationFormat>
  <Paragraphs>73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Noto Sans KR</vt:lpstr>
      <vt:lpstr>Pretendard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 AI 로직</vt:lpstr>
      <vt:lpstr>전투 역할</vt:lpstr>
      <vt:lpstr>설계 역할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203</cp:revision>
  <dcterms:created xsi:type="dcterms:W3CDTF">2026-06-16T06:11:28Z</dcterms:created>
  <dcterms:modified xsi:type="dcterms:W3CDTF">2026-09-02T07:32:01Z</dcterms:modified>
</cp:coreProperties>
</file>